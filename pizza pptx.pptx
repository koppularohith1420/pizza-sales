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Lst>
  <p:sldSz cx="18288000" cy="10287000"/>
  <p:notesSz cx="6858000" cy="9144000"/>
  <p:embeddedFontLst>
    <p:embeddedFont>
      <p:font typeface="Bebas Neue Bold" panose="020B0604020202020204" charset="0"/>
      <p:regular r:id="rId11"/>
    </p:embeddedFont>
    <p:embeddedFont>
      <p:font typeface="Open Sans" panose="020B0606030504020204" pitchFamily="3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CA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876" y="2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jpe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5.jpe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4.sv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4.svg"/><Relationship Id="rId9" Type="http://schemas.openxmlformats.org/officeDocument/2006/relationships/image" Target="../media/image22.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jpeg"/><Relationship Id="rId10" Type="http://schemas.openxmlformats.org/officeDocument/2006/relationships/image" Target="../media/image30.PNG"/><Relationship Id="rId4" Type="http://schemas.openxmlformats.org/officeDocument/2006/relationships/image" Target="../media/image4.svg"/><Relationship Id="rId9"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png"/><Relationship Id="rId7"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24.png"/><Relationship Id="rId10" Type="http://schemas.openxmlformats.org/officeDocument/2006/relationships/image" Target="../media/image38.PNG"/><Relationship Id="rId4" Type="http://schemas.openxmlformats.org/officeDocument/2006/relationships/image" Target="../media/image4.sv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txBody>
          <a:bodyPr/>
          <a:lstStyle/>
          <a:p>
            <a:endParaRPr lang="en-IN"/>
          </a:p>
        </p:txBody>
      </p:sp>
      <p:grpSp>
        <p:nvGrpSpPr>
          <p:cNvPr id="3" name="Group 3"/>
          <p:cNvGrpSpPr/>
          <p:nvPr/>
        </p:nvGrpSpPr>
        <p:grpSpPr>
          <a:xfrm>
            <a:off x="1549709" y="7712216"/>
            <a:ext cx="3438827" cy="737246"/>
            <a:chOff x="0" y="0"/>
            <a:chExt cx="1895622" cy="406400"/>
          </a:xfrm>
        </p:grpSpPr>
        <p:sp>
          <p:nvSpPr>
            <p:cNvPr id="4" name="Freeform 4"/>
            <p:cNvSpPr/>
            <p:nvPr/>
          </p:nvSpPr>
          <p:spPr>
            <a:xfrm>
              <a:off x="0" y="0"/>
              <a:ext cx="1895622" cy="406400"/>
            </a:xfrm>
            <a:custGeom>
              <a:avLst/>
              <a:gdLst/>
              <a:ahLst/>
              <a:cxnLst/>
              <a:rect l="l" t="t" r="r" b="b"/>
              <a:pathLst>
                <a:path w="1895622" h="406400">
                  <a:moveTo>
                    <a:pt x="1692422" y="0"/>
                  </a:moveTo>
                  <a:cubicBezTo>
                    <a:pt x="1804646" y="0"/>
                    <a:pt x="1895622" y="90976"/>
                    <a:pt x="1895622" y="203200"/>
                  </a:cubicBezTo>
                  <a:cubicBezTo>
                    <a:pt x="1895622" y="315424"/>
                    <a:pt x="1804646" y="406400"/>
                    <a:pt x="1692422" y="406400"/>
                  </a:cubicBezTo>
                  <a:lnTo>
                    <a:pt x="203200" y="406400"/>
                  </a:lnTo>
                  <a:cubicBezTo>
                    <a:pt x="90976" y="406400"/>
                    <a:pt x="0" y="315424"/>
                    <a:pt x="0" y="203200"/>
                  </a:cubicBezTo>
                  <a:cubicBezTo>
                    <a:pt x="0" y="90976"/>
                    <a:pt x="90976" y="0"/>
                    <a:pt x="203200" y="0"/>
                  </a:cubicBezTo>
                  <a:close/>
                </a:path>
              </a:pathLst>
            </a:custGeom>
            <a:solidFill>
              <a:srgbClr val="EA6E19"/>
            </a:solidFill>
            <a:ln cap="sq">
              <a:noFill/>
              <a:prstDash val="solid"/>
              <a:miter/>
            </a:ln>
          </p:spPr>
          <p:txBody>
            <a:bodyPr/>
            <a:lstStyle/>
            <a:p>
              <a:endParaRPr lang="en-IN"/>
            </a:p>
          </p:txBody>
        </p:sp>
        <p:sp>
          <p:nvSpPr>
            <p:cNvPr id="5" name="TextBox 5"/>
            <p:cNvSpPr txBox="1"/>
            <p:nvPr/>
          </p:nvSpPr>
          <p:spPr>
            <a:xfrm>
              <a:off x="0" y="-47625"/>
              <a:ext cx="1895622" cy="454025"/>
            </a:xfrm>
            <a:prstGeom prst="rect">
              <a:avLst/>
            </a:prstGeom>
          </p:spPr>
          <p:txBody>
            <a:bodyPr lIns="31690" tIns="31690" rIns="31690" bIns="31690" rtlCol="0" anchor="ctr"/>
            <a:lstStyle/>
            <a:p>
              <a:pPr marL="0" lvl="0" indent="0" algn="ctr">
                <a:lnSpc>
                  <a:spcPts val="3220"/>
                </a:lnSpc>
                <a:spcBef>
                  <a:spcPct val="0"/>
                </a:spcBef>
              </a:pPr>
              <a:endParaRPr/>
            </a:p>
          </p:txBody>
        </p:sp>
      </p:grpSp>
      <p:sp>
        <p:nvSpPr>
          <p:cNvPr id="6" name="Freeform 6"/>
          <p:cNvSpPr/>
          <p:nvPr/>
        </p:nvSpPr>
        <p:spPr>
          <a:xfrm>
            <a:off x="5331182" y="5732713"/>
            <a:ext cx="11185274" cy="7102649"/>
          </a:xfrm>
          <a:custGeom>
            <a:avLst/>
            <a:gdLst/>
            <a:ahLst/>
            <a:cxnLst/>
            <a:rect l="l" t="t" r="r" b="b"/>
            <a:pathLst>
              <a:path w="11185274" h="7102649">
                <a:moveTo>
                  <a:pt x="0" y="0"/>
                </a:moveTo>
                <a:lnTo>
                  <a:pt x="11185274" y="0"/>
                </a:lnTo>
                <a:lnTo>
                  <a:pt x="11185274" y="7102649"/>
                </a:lnTo>
                <a:lnTo>
                  <a:pt x="0" y="7102649"/>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1549709" y="2905491"/>
            <a:ext cx="11105782" cy="4724627"/>
          </a:xfrm>
          <a:prstGeom prst="rect">
            <a:avLst/>
          </a:prstGeom>
        </p:spPr>
        <p:txBody>
          <a:bodyPr lIns="0" tIns="0" rIns="0" bIns="0" rtlCol="0" anchor="t">
            <a:spAutoFit/>
          </a:bodyPr>
          <a:lstStyle/>
          <a:p>
            <a:pPr algn="l">
              <a:lnSpc>
                <a:spcPts val="19563"/>
              </a:lnSpc>
            </a:pPr>
            <a:r>
              <a:rPr lang="en-US" sz="15000" b="1" dirty="0">
                <a:solidFill>
                  <a:srgbClr val="FFFFFF"/>
                </a:solidFill>
                <a:latin typeface="Bebas Neue Bold"/>
                <a:ea typeface="Bebas Neue Bold"/>
                <a:cs typeface="Bebas Neue Bold"/>
                <a:sym typeface="Bebas Neue Bold"/>
              </a:rPr>
              <a:t>Pizza sales    SQL-project </a:t>
            </a:r>
          </a:p>
        </p:txBody>
      </p:sp>
      <p:grpSp>
        <p:nvGrpSpPr>
          <p:cNvPr id="8" name="Group 8"/>
          <p:cNvGrpSpPr/>
          <p:nvPr/>
        </p:nvGrpSpPr>
        <p:grpSpPr>
          <a:xfrm>
            <a:off x="17259300" y="-1588573"/>
            <a:ext cx="1788844" cy="12826898"/>
            <a:chOff x="0" y="0"/>
            <a:chExt cx="471136" cy="3378278"/>
          </a:xfrm>
        </p:grpSpPr>
        <p:sp>
          <p:nvSpPr>
            <p:cNvPr id="9" name="Freeform 9"/>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10" name="TextBox 10"/>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grpSp>
        <p:nvGrpSpPr>
          <p:cNvPr id="14" name="Group 14"/>
          <p:cNvGrpSpPr/>
          <p:nvPr/>
        </p:nvGrpSpPr>
        <p:grpSpPr>
          <a:xfrm>
            <a:off x="-1543050" y="-1895009"/>
            <a:ext cx="3086100" cy="3086100"/>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sp>
        <p:nvSpPr>
          <p:cNvPr id="17" name="Freeform 17"/>
          <p:cNvSpPr/>
          <p:nvPr/>
        </p:nvSpPr>
        <p:spPr>
          <a:xfrm>
            <a:off x="15280761" y="3035806"/>
            <a:ext cx="2471391" cy="627331"/>
          </a:xfrm>
          <a:custGeom>
            <a:avLst/>
            <a:gdLst/>
            <a:ahLst/>
            <a:cxnLst/>
            <a:rect l="l" t="t" r="r" b="b"/>
            <a:pathLst>
              <a:path w="2471391" h="627331">
                <a:moveTo>
                  <a:pt x="0" y="0"/>
                </a:moveTo>
                <a:lnTo>
                  <a:pt x="2471391" y="0"/>
                </a:lnTo>
                <a:lnTo>
                  <a:pt x="2471391" y="627331"/>
                </a:lnTo>
                <a:lnTo>
                  <a:pt x="0" y="6273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21" name="Freeform 21"/>
          <p:cNvSpPr/>
          <p:nvPr/>
        </p:nvSpPr>
        <p:spPr>
          <a:xfrm>
            <a:off x="-752650" y="9258300"/>
            <a:ext cx="2471391" cy="627331"/>
          </a:xfrm>
          <a:custGeom>
            <a:avLst/>
            <a:gdLst/>
            <a:ahLst/>
            <a:cxnLst/>
            <a:rect l="l" t="t" r="r" b="b"/>
            <a:pathLst>
              <a:path w="2471391" h="627331">
                <a:moveTo>
                  <a:pt x="0" y="0"/>
                </a:moveTo>
                <a:lnTo>
                  <a:pt x="2471391" y="0"/>
                </a:lnTo>
                <a:lnTo>
                  <a:pt x="2471391" y="627331"/>
                </a:lnTo>
                <a:lnTo>
                  <a:pt x="0" y="6273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txBody>
          <a:bodyPr/>
          <a:lstStyle/>
          <a:p>
            <a:endParaRPr lang="en-IN"/>
          </a:p>
        </p:txBody>
      </p:sp>
      <p:grpSp>
        <p:nvGrpSpPr>
          <p:cNvPr id="3" name="Group 3"/>
          <p:cNvGrpSpPr/>
          <p:nvPr/>
        </p:nvGrpSpPr>
        <p:grpSpPr>
          <a:xfrm>
            <a:off x="17259300" y="-1588573"/>
            <a:ext cx="1788844" cy="12826898"/>
            <a:chOff x="0" y="0"/>
            <a:chExt cx="471136" cy="3378278"/>
          </a:xfrm>
        </p:grpSpPr>
        <p:sp>
          <p:nvSpPr>
            <p:cNvPr id="4" name="Freeform 4"/>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5" name="TextBox 5"/>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grpSp>
        <p:nvGrpSpPr>
          <p:cNvPr id="6" name="Group 6"/>
          <p:cNvGrpSpPr/>
          <p:nvPr/>
        </p:nvGrpSpPr>
        <p:grpSpPr>
          <a:xfrm>
            <a:off x="-542744" y="2874531"/>
            <a:ext cx="4519126" cy="6575594"/>
            <a:chOff x="0" y="0"/>
            <a:chExt cx="700131" cy="1018732"/>
          </a:xfrm>
        </p:grpSpPr>
        <p:sp>
          <p:nvSpPr>
            <p:cNvPr id="7" name="Freeform 7"/>
            <p:cNvSpPr/>
            <p:nvPr/>
          </p:nvSpPr>
          <p:spPr>
            <a:xfrm>
              <a:off x="0" y="0"/>
              <a:ext cx="700131" cy="1018732"/>
            </a:xfrm>
            <a:custGeom>
              <a:avLst/>
              <a:gdLst/>
              <a:ahLst/>
              <a:cxnLst/>
              <a:rect l="l" t="t" r="r" b="b"/>
              <a:pathLst>
                <a:path w="700131" h="1018732">
                  <a:moveTo>
                    <a:pt x="39402" y="0"/>
                  </a:moveTo>
                  <a:lnTo>
                    <a:pt x="660729" y="0"/>
                  </a:lnTo>
                  <a:cubicBezTo>
                    <a:pt x="671179" y="0"/>
                    <a:pt x="681201" y="4151"/>
                    <a:pt x="688590" y="11541"/>
                  </a:cubicBezTo>
                  <a:cubicBezTo>
                    <a:pt x="695980" y="18930"/>
                    <a:pt x="700131" y="28952"/>
                    <a:pt x="700131" y="39402"/>
                  </a:cubicBezTo>
                  <a:lnTo>
                    <a:pt x="700131" y="979329"/>
                  </a:lnTo>
                  <a:cubicBezTo>
                    <a:pt x="700131" y="1001091"/>
                    <a:pt x="682490" y="1018732"/>
                    <a:pt x="660729" y="1018732"/>
                  </a:cubicBezTo>
                  <a:lnTo>
                    <a:pt x="39402" y="1018732"/>
                  </a:lnTo>
                  <a:cubicBezTo>
                    <a:pt x="28952" y="1018732"/>
                    <a:pt x="18930" y="1014580"/>
                    <a:pt x="11541" y="1007191"/>
                  </a:cubicBezTo>
                  <a:cubicBezTo>
                    <a:pt x="4151" y="999802"/>
                    <a:pt x="0" y="989779"/>
                    <a:pt x="0" y="979329"/>
                  </a:cubicBezTo>
                  <a:lnTo>
                    <a:pt x="0" y="39402"/>
                  </a:lnTo>
                  <a:cubicBezTo>
                    <a:pt x="0" y="17641"/>
                    <a:pt x="17641" y="0"/>
                    <a:pt x="39402" y="0"/>
                  </a:cubicBezTo>
                  <a:close/>
                </a:path>
              </a:pathLst>
            </a:custGeom>
            <a:blipFill>
              <a:blip r:embed="rId3"/>
              <a:stretch>
                <a:fillRect l="-8202" r="-8202"/>
              </a:stretch>
            </a:blipFill>
            <a:ln w="171450" cap="rnd">
              <a:solidFill>
                <a:srgbClr val="EA6E19"/>
              </a:solidFill>
              <a:prstDash val="solid"/>
              <a:round/>
            </a:ln>
          </p:spPr>
          <p:txBody>
            <a:bodyPr/>
            <a:lstStyle/>
            <a:p>
              <a:endParaRPr lang="en-IN"/>
            </a:p>
          </p:txBody>
        </p:sp>
      </p:grpSp>
      <p:sp>
        <p:nvSpPr>
          <p:cNvPr id="8" name="Freeform 8"/>
          <p:cNvSpPr/>
          <p:nvPr/>
        </p:nvSpPr>
        <p:spPr>
          <a:xfrm>
            <a:off x="4624843" y="8630969"/>
            <a:ext cx="2471391" cy="627331"/>
          </a:xfrm>
          <a:custGeom>
            <a:avLst/>
            <a:gdLst/>
            <a:ahLst/>
            <a:cxnLst/>
            <a:rect l="l" t="t" r="r" b="b"/>
            <a:pathLst>
              <a:path w="2471391" h="627331">
                <a:moveTo>
                  <a:pt x="0" y="0"/>
                </a:moveTo>
                <a:lnTo>
                  <a:pt x="2471391" y="0"/>
                </a:lnTo>
                <a:lnTo>
                  <a:pt x="2471391" y="627331"/>
                </a:lnTo>
                <a:lnTo>
                  <a:pt x="0" y="6273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9" name="Group 9"/>
          <p:cNvGrpSpPr/>
          <p:nvPr/>
        </p:nvGrpSpPr>
        <p:grpSpPr>
          <a:xfrm>
            <a:off x="-1543050" y="-1895009"/>
            <a:ext cx="3086100" cy="308610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grpSp>
        <p:nvGrpSpPr>
          <p:cNvPr id="12" name="Group 12"/>
          <p:cNvGrpSpPr/>
          <p:nvPr/>
        </p:nvGrpSpPr>
        <p:grpSpPr>
          <a:xfrm>
            <a:off x="4452632" y="1191091"/>
            <a:ext cx="4519126" cy="6575594"/>
            <a:chOff x="0" y="0"/>
            <a:chExt cx="700131" cy="1018732"/>
          </a:xfrm>
        </p:grpSpPr>
        <p:sp>
          <p:nvSpPr>
            <p:cNvPr id="13" name="Freeform 13"/>
            <p:cNvSpPr/>
            <p:nvPr/>
          </p:nvSpPr>
          <p:spPr>
            <a:xfrm>
              <a:off x="0" y="0"/>
              <a:ext cx="700131" cy="1018732"/>
            </a:xfrm>
            <a:custGeom>
              <a:avLst/>
              <a:gdLst/>
              <a:ahLst/>
              <a:cxnLst/>
              <a:rect l="l" t="t" r="r" b="b"/>
              <a:pathLst>
                <a:path w="700131" h="1018732">
                  <a:moveTo>
                    <a:pt x="39402" y="0"/>
                  </a:moveTo>
                  <a:lnTo>
                    <a:pt x="660729" y="0"/>
                  </a:lnTo>
                  <a:cubicBezTo>
                    <a:pt x="671179" y="0"/>
                    <a:pt x="681201" y="4151"/>
                    <a:pt x="688590" y="11541"/>
                  </a:cubicBezTo>
                  <a:cubicBezTo>
                    <a:pt x="695980" y="18930"/>
                    <a:pt x="700131" y="28952"/>
                    <a:pt x="700131" y="39402"/>
                  </a:cubicBezTo>
                  <a:lnTo>
                    <a:pt x="700131" y="979329"/>
                  </a:lnTo>
                  <a:cubicBezTo>
                    <a:pt x="700131" y="1001091"/>
                    <a:pt x="682490" y="1018732"/>
                    <a:pt x="660729" y="1018732"/>
                  </a:cubicBezTo>
                  <a:lnTo>
                    <a:pt x="39402" y="1018732"/>
                  </a:lnTo>
                  <a:cubicBezTo>
                    <a:pt x="28952" y="1018732"/>
                    <a:pt x="18930" y="1014580"/>
                    <a:pt x="11541" y="1007191"/>
                  </a:cubicBezTo>
                  <a:cubicBezTo>
                    <a:pt x="4151" y="999802"/>
                    <a:pt x="0" y="989779"/>
                    <a:pt x="0" y="979329"/>
                  </a:cubicBezTo>
                  <a:lnTo>
                    <a:pt x="0" y="39402"/>
                  </a:lnTo>
                  <a:cubicBezTo>
                    <a:pt x="0" y="17641"/>
                    <a:pt x="17641" y="0"/>
                    <a:pt x="39402" y="0"/>
                  </a:cubicBezTo>
                  <a:close/>
                </a:path>
              </a:pathLst>
            </a:custGeom>
            <a:blipFill>
              <a:blip r:embed="rId6"/>
              <a:stretch>
                <a:fillRect l="-58586" r="-58586"/>
              </a:stretch>
            </a:blipFill>
            <a:ln w="171450" cap="rnd">
              <a:solidFill>
                <a:srgbClr val="EA6E19"/>
              </a:solidFill>
              <a:prstDash val="solid"/>
              <a:round/>
            </a:ln>
          </p:spPr>
          <p:txBody>
            <a:bodyPr/>
            <a:lstStyle/>
            <a:p>
              <a:endParaRPr lang="en-IN"/>
            </a:p>
          </p:txBody>
        </p:sp>
      </p:grpSp>
      <p:sp>
        <p:nvSpPr>
          <p:cNvPr id="14" name="Freeform 14"/>
          <p:cNvSpPr/>
          <p:nvPr/>
        </p:nvSpPr>
        <p:spPr>
          <a:xfrm>
            <a:off x="15207451" y="877426"/>
            <a:ext cx="2471391" cy="627331"/>
          </a:xfrm>
          <a:custGeom>
            <a:avLst/>
            <a:gdLst/>
            <a:ahLst/>
            <a:cxnLst/>
            <a:rect l="l" t="t" r="r" b="b"/>
            <a:pathLst>
              <a:path w="2471391" h="627331">
                <a:moveTo>
                  <a:pt x="0" y="0"/>
                </a:moveTo>
                <a:lnTo>
                  <a:pt x="2471391" y="0"/>
                </a:lnTo>
                <a:lnTo>
                  <a:pt x="2471391" y="627330"/>
                </a:lnTo>
                <a:lnTo>
                  <a:pt x="0" y="6273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5" name="TextBox 15"/>
          <p:cNvSpPr txBox="1"/>
          <p:nvPr/>
        </p:nvSpPr>
        <p:spPr>
          <a:xfrm>
            <a:off x="10061307" y="840192"/>
            <a:ext cx="6720243" cy="2616101"/>
          </a:xfrm>
          <a:prstGeom prst="rect">
            <a:avLst/>
          </a:prstGeom>
        </p:spPr>
        <p:txBody>
          <a:bodyPr lIns="0" tIns="0" rIns="0" bIns="0" rtlCol="0" anchor="t">
            <a:spAutoFit/>
          </a:bodyPr>
          <a:lstStyle/>
          <a:p>
            <a:pPr marL="0" lvl="0" indent="0" algn="l">
              <a:lnSpc>
                <a:spcPts val="10242"/>
              </a:lnSpc>
              <a:spcBef>
                <a:spcPct val="0"/>
              </a:spcBef>
            </a:pPr>
            <a:r>
              <a:rPr lang="en-US" sz="9600" b="1" dirty="0">
                <a:solidFill>
                  <a:srgbClr val="FFFFFF"/>
                </a:solidFill>
                <a:latin typeface="Bebas Neue Bold"/>
                <a:ea typeface="Bebas Neue Bold"/>
                <a:cs typeface="Bebas Neue Bold"/>
                <a:sym typeface="Bebas Neue Bold"/>
              </a:rPr>
              <a:t>Pizza analysis project</a:t>
            </a:r>
          </a:p>
        </p:txBody>
      </p:sp>
      <p:sp>
        <p:nvSpPr>
          <p:cNvPr id="17" name="TextBox 17"/>
          <p:cNvSpPr txBox="1"/>
          <p:nvPr/>
        </p:nvSpPr>
        <p:spPr>
          <a:xfrm>
            <a:off x="9829801" y="3413645"/>
            <a:ext cx="7217908" cy="3881384"/>
          </a:xfrm>
          <a:prstGeom prst="rect">
            <a:avLst/>
          </a:prstGeom>
        </p:spPr>
        <p:txBody>
          <a:bodyPr wrap="square" lIns="0" tIns="0" rIns="0" bIns="0" rtlCol="0" anchor="t">
            <a:spAutoFit/>
          </a:bodyPr>
          <a:lstStyle/>
          <a:p>
            <a:pPr marL="0" lvl="0" indent="0" algn="l">
              <a:lnSpc>
                <a:spcPts val="3400"/>
              </a:lnSpc>
              <a:spcBef>
                <a:spcPct val="0"/>
              </a:spcBef>
            </a:pPr>
            <a:r>
              <a:rPr lang="en-US" sz="2000" dirty="0">
                <a:solidFill>
                  <a:srgbClr val="FFFFFF">
                    <a:alpha val="80000"/>
                  </a:srgbClr>
                </a:solidFill>
                <a:latin typeface="Open Sans"/>
                <a:ea typeface="Open Sans"/>
                <a:cs typeface="Open Sans"/>
                <a:sym typeface="Open Sans"/>
              </a:rPr>
              <a:t>H</a:t>
            </a:r>
            <a:r>
              <a:rPr lang="en-US" sz="2000" u="none" strike="noStrike" dirty="0">
                <a:solidFill>
                  <a:srgbClr val="FFFFFF">
                    <a:alpha val="80000"/>
                  </a:srgbClr>
                </a:solidFill>
                <a:latin typeface="Open Sans"/>
                <a:ea typeface="Open Sans"/>
                <a:cs typeface="Open Sans"/>
                <a:sym typeface="Open Sans"/>
              </a:rPr>
              <a:t>ello am </a:t>
            </a:r>
            <a:r>
              <a:rPr lang="en-US" sz="2000" u="none" strike="noStrike" dirty="0" err="1">
                <a:solidFill>
                  <a:srgbClr val="FFFFFF">
                    <a:alpha val="80000"/>
                  </a:srgbClr>
                </a:solidFill>
                <a:latin typeface="Open Sans"/>
                <a:ea typeface="Open Sans"/>
                <a:cs typeface="Open Sans"/>
                <a:sym typeface="Open Sans"/>
              </a:rPr>
              <a:t>K.Rohith</a:t>
            </a:r>
            <a:r>
              <a:rPr lang="en-US" sz="2000" dirty="0">
                <a:solidFill>
                  <a:srgbClr val="FFFFFF">
                    <a:alpha val="80000"/>
                  </a:srgbClr>
                </a:solidFill>
                <a:latin typeface="Open Sans"/>
                <a:ea typeface="Open Sans"/>
                <a:cs typeface="Open Sans"/>
                <a:sym typeface="Open Sans"/>
              </a:rPr>
              <a:t>, switching my career  to data analysts and data science and feeling energetic and enthusiasm to share my full-fledged SQL project .</a:t>
            </a:r>
          </a:p>
          <a:p>
            <a:pPr marL="0" lvl="0" indent="0" algn="l">
              <a:lnSpc>
                <a:spcPts val="3400"/>
              </a:lnSpc>
              <a:spcBef>
                <a:spcPct val="0"/>
              </a:spcBef>
            </a:pPr>
            <a:endParaRPr lang="en-US" sz="2000" u="none" strike="noStrike" dirty="0">
              <a:solidFill>
                <a:srgbClr val="FFFFFF">
                  <a:alpha val="80000"/>
                </a:srgbClr>
              </a:solidFill>
              <a:latin typeface="Open Sans"/>
              <a:ea typeface="Open Sans"/>
              <a:cs typeface="Open Sans"/>
              <a:sym typeface="Open Sans"/>
            </a:endParaRPr>
          </a:p>
          <a:p>
            <a:pPr marL="0" lvl="0" indent="0" algn="l">
              <a:lnSpc>
                <a:spcPts val="3400"/>
              </a:lnSpc>
              <a:spcBef>
                <a:spcPct val="0"/>
              </a:spcBef>
            </a:pPr>
            <a:r>
              <a:rPr lang="en-US" sz="2000" dirty="0">
                <a:solidFill>
                  <a:srgbClr val="FFFFFF">
                    <a:alpha val="80000"/>
                  </a:srgbClr>
                </a:solidFill>
                <a:latin typeface="Open Sans"/>
                <a:ea typeface="Open Sans"/>
                <a:cs typeface="Open Sans"/>
                <a:sym typeface="Open Sans"/>
              </a:rPr>
              <a:t> Our objective is to analyze the sales data of our pizza business to identify trends, patterns, and key performance indicators that will help us understand customer preferences, sales performance, and potential areas for growth.</a:t>
            </a:r>
          </a:p>
        </p:txBody>
      </p:sp>
      <p:sp>
        <p:nvSpPr>
          <p:cNvPr id="18" name="TextBox 18"/>
          <p:cNvSpPr txBox="1"/>
          <p:nvPr/>
        </p:nvSpPr>
        <p:spPr>
          <a:xfrm>
            <a:off x="9829801" y="7409250"/>
            <a:ext cx="7217908" cy="1265283"/>
          </a:xfrm>
          <a:prstGeom prst="rect">
            <a:avLst/>
          </a:prstGeom>
        </p:spPr>
        <p:txBody>
          <a:bodyPr wrap="square" lIns="0" tIns="0" rIns="0" bIns="0" rtlCol="0" anchor="t">
            <a:spAutoFit/>
          </a:bodyPr>
          <a:lstStyle/>
          <a:p>
            <a:pPr marL="0" lvl="0" indent="0" algn="l">
              <a:lnSpc>
                <a:spcPts val="3400"/>
              </a:lnSpc>
              <a:spcBef>
                <a:spcPct val="0"/>
              </a:spcBef>
            </a:pPr>
            <a:r>
              <a:rPr lang="en-US" sz="2000" dirty="0">
                <a:solidFill>
                  <a:srgbClr val="FFFFFF">
                    <a:alpha val="80000"/>
                  </a:srgbClr>
                </a:solidFill>
                <a:latin typeface="Open Sans"/>
                <a:ea typeface="Open Sans"/>
                <a:cs typeface="Open Sans"/>
                <a:sym typeface="Open Sans"/>
              </a:rPr>
              <a:t>My learning had started from </a:t>
            </a:r>
            <a:r>
              <a:rPr lang="en-US" sz="2000" dirty="0" err="1">
                <a:solidFill>
                  <a:srgbClr val="FFFFFF">
                    <a:alpha val="80000"/>
                  </a:srgbClr>
                </a:solidFill>
                <a:latin typeface="Open Sans"/>
                <a:ea typeface="Open Sans"/>
                <a:cs typeface="Open Sans"/>
                <a:sym typeface="Open Sans"/>
              </a:rPr>
              <a:t>ws</a:t>
            </a:r>
            <a:r>
              <a:rPr lang="en-US" sz="2000" dirty="0">
                <a:solidFill>
                  <a:srgbClr val="FFFFFF">
                    <a:alpha val="80000"/>
                  </a:srgbClr>
                </a:solidFill>
                <a:latin typeface="Open Sans"/>
                <a:ea typeface="Open Sans"/>
                <a:cs typeface="Open Sans"/>
                <a:sym typeface="Open Sans"/>
              </a:rPr>
              <a:t> cube tech  and special thanks to Ayushi </a:t>
            </a:r>
            <a:r>
              <a:rPr lang="en-US" sz="2000" dirty="0" err="1">
                <a:solidFill>
                  <a:srgbClr val="FFFFFF">
                    <a:alpha val="80000"/>
                  </a:srgbClr>
                </a:solidFill>
                <a:latin typeface="Open Sans"/>
                <a:ea typeface="Open Sans"/>
                <a:cs typeface="Open Sans"/>
                <a:sym typeface="Open Sans"/>
              </a:rPr>
              <a:t>jain</a:t>
            </a:r>
            <a:r>
              <a:rPr lang="en-US" sz="2000" dirty="0">
                <a:solidFill>
                  <a:srgbClr val="FFFFFF">
                    <a:alpha val="80000"/>
                  </a:srgbClr>
                </a:solidFill>
                <a:latin typeface="Open Sans"/>
                <a:ea typeface="Open Sans"/>
                <a:cs typeface="Open Sans"/>
                <a:sym typeface="Open Sans"/>
              </a:rPr>
              <a:t> ma’am for your guidance and constant support.</a:t>
            </a:r>
            <a:endParaRPr lang="en-US" sz="2000" u="none" strike="noStrike" dirty="0">
              <a:solidFill>
                <a:srgbClr val="FFFFFF">
                  <a:alpha val="80000"/>
                </a:srgbClr>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18241" y="18738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txBody>
          <a:bodyPr/>
          <a:lstStyle/>
          <a:p>
            <a:endParaRPr lang="en-IN"/>
          </a:p>
        </p:txBody>
      </p:sp>
      <p:grpSp>
        <p:nvGrpSpPr>
          <p:cNvPr id="3" name="Group 3"/>
          <p:cNvGrpSpPr/>
          <p:nvPr/>
        </p:nvGrpSpPr>
        <p:grpSpPr>
          <a:xfrm>
            <a:off x="17259300" y="-1588573"/>
            <a:ext cx="1788844" cy="12826898"/>
            <a:chOff x="0" y="0"/>
            <a:chExt cx="471136" cy="3378278"/>
          </a:xfrm>
        </p:grpSpPr>
        <p:sp>
          <p:nvSpPr>
            <p:cNvPr id="4" name="Freeform 4"/>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5" name="TextBox 5"/>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sp>
        <p:nvSpPr>
          <p:cNvPr id="6" name="Freeform 6"/>
          <p:cNvSpPr/>
          <p:nvPr/>
        </p:nvSpPr>
        <p:spPr>
          <a:xfrm>
            <a:off x="15207451" y="877426"/>
            <a:ext cx="2471391" cy="627331"/>
          </a:xfrm>
          <a:custGeom>
            <a:avLst/>
            <a:gdLst/>
            <a:ahLst/>
            <a:cxnLst/>
            <a:rect l="l" t="t" r="r" b="b"/>
            <a:pathLst>
              <a:path w="2471391" h="627331">
                <a:moveTo>
                  <a:pt x="0" y="0"/>
                </a:moveTo>
                <a:lnTo>
                  <a:pt x="2471391" y="0"/>
                </a:lnTo>
                <a:lnTo>
                  <a:pt x="2471391" y="627330"/>
                </a:lnTo>
                <a:lnTo>
                  <a:pt x="0" y="6273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7" name="Group 7"/>
          <p:cNvGrpSpPr/>
          <p:nvPr/>
        </p:nvGrpSpPr>
        <p:grpSpPr>
          <a:xfrm>
            <a:off x="9878100" y="5644548"/>
            <a:ext cx="7196386" cy="3844529"/>
            <a:chOff x="0" y="0"/>
            <a:chExt cx="1114909" cy="595618"/>
          </a:xfrm>
        </p:grpSpPr>
        <p:sp>
          <p:nvSpPr>
            <p:cNvPr id="8" name="Freeform 8"/>
            <p:cNvSpPr/>
            <p:nvPr/>
          </p:nvSpPr>
          <p:spPr>
            <a:xfrm>
              <a:off x="0" y="0"/>
              <a:ext cx="1114909" cy="595618"/>
            </a:xfrm>
            <a:custGeom>
              <a:avLst/>
              <a:gdLst/>
              <a:ahLst/>
              <a:cxnLst/>
              <a:rect l="l" t="t" r="r" b="b"/>
              <a:pathLst>
                <a:path w="1114909" h="595618">
                  <a:moveTo>
                    <a:pt x="24744" y="0"/>
                  </a:moveTo>
                  <a:lnTo>
                    <a:pt x="1090165" y="0"/>
                  </a:lnTo>
                  <a:cubicBezTo>
                    <a:pt x="1103830" y="0"/>
                    <a:pt x="1114909" y="11078"/>
                    <a:pt x="1114909" y="24744"/>
                  </a:cubicBezTo>
                  <a:lnTo>
                    <a:pt x="1114909" y="570875"/>
                  </a:lnTo>
                  <a:cubicBezTo>
                    <a:pt x="1114909" y="584540"/>
                    <a:pt x="1103830" y="595618"/>
                    <a:pt x="1090165" y="595618"/>
                  </a:cubicBezTo>
                  <a:lnTo>
                    <a:pt x="24744" y="595618"/>
                  </a:lnTo>
                  <a:cubicBezTo>
                    <a:pt x="11078" y="595618"/>
                    <a:pt x="0" y="584540"/>
                    <a:pt x="0" y="570875"/>
                  </a:cubicBezTo>
                  <a:lnTo>
                    <a:pt x="0" y="24744"/>
                  </a:lnTo>
                  <a:cubicBezTo>
                    <a:pt x="0" y="11078"/>
                    <a:pt x="11078" y="0"/>
                    <a:pt x="24744" y="0"/>
                  </a:cubicBezTo>
                  <a:close/>
                </a:path>
              </a:pathLst>
            </a:custGeom>
            <a:blipFill>
              <a:blip r:embed="rId5"/>
              <a:stretch>
                <a:fillRect t="-12356" b="-12356"/>
              </a:stretch>
            </a:blipFill>
            <a:ln w="171450" cap="rnd">
              <a:solidFill>
                <a:srgbClr val="EA6E19"/>
              </a:solidFill>
              <a:prstDash val="solid"/>
              <a:round/>
            </a:ln>
          </p:spPr>
          <p:txBody>
            <a:bodyPr/>
            <a:lstStyle/>
            <a:p>
              <a:endParaRPr lang="en-IN"/>
            </a:p>
          </p:txBody>
        </p:sp>
      </p:grpSp>
      <p:grpSp>
        <p:nvGrpSpPr>
          <p:cNvPr id="9" name="Group 9"/>
          <p:cNvGrpSpPr/>
          <p:nvPr/>
        </p:nvGrpSpPr>
        <p:grpSpPr>
          <a:xfrm>
            <a:off x="9910757" y="980347"/>
            <a:ext cx="7196386" cy="3844529"/>
            <a:chOff x="0" y="0"/>
            <a:chExt cx="1114909" cy="595618"/>
          </a:xfrm>
        </p:grpSpPr>
        <p:sp>
          <p:nvSpPr>
            <p:cNvPr id="10" name="Freeform 10"/>
            <p:cNvSpPr/>
            <p:nvPr/>
          </p:nvSpPr>
          <p:spPr>
            <a:xfrm>
              <a:off x="0" y="0"/>
              <a:ext cx="1114909" cy="595618"/>
            </a:xfrm>
            <a:custGeom>
              <a:avLst/>
              <a:gdLst/>
              <a:ahLst/>
              <a:cxnLst/>
              <a:rect l="l" t="t" r="r" b="b"/>
              <a:pathLst>
                <a:path w="1114909" h="595618">
                  <a:moveTo>
                    <a:pt x="24744" y="0"/>
                  </a:moveTo>
                  <a:lnTo>
                    <a:pt x="1090165" y="0"/>
                  </a:lnTo>
                  <a:cubicBezTo>
                    <a:pt x="1103830" y="0"/>
                    <a:pt x="1114909" y="11078"/>
                    <a:pt x="1114909" y="24744"/>
                  </a:cubicBezTo>
                  <a:lnTo>
                    <a:pt x="1114909" y="570875"/>
                  </a:lnTo>
                  <a:cubicBezTo>
                    <a:pt x="1114909" y="584540"/>
                    <a:pt x="1103830" y="595618"/>
                    <a:pt x="1090165" y="595618"/>
                  </a:cubicBezTo>
                  <a:lnTo>
                    <a:pt x="24744" y="595618"/>
                  </a:lnTo>
                  <a:cubicBezTo>
                    <a:pt x="11078" y="595618"/>
                    <a:pt x="0" y="584540"/>
                    <a:pt x="0" y="570875"/>
                  </a:cubicBezTo>
                  <a:lnTo>
                    <a:pt x="0" y="24744"/>
                  </a:lnTo>
                  <a:cubicBezTo>
                    <a:pt x="0" y="11078"/>
                    <a:pt x="11078" y="0"/>
                    <a:pt x="24744" y="0"/>
                  </a:cubicBezTo>
                  <a:close/>
                </a:path>
              </a:pathLst>
            </a:custGeom>
            <a:blipFill>
              <a:blip r:embed="rId6"/>
              <a:stretch>
                <a:fillRect t="-12356" b="-12356"/>
              </a:stretch>
            </a:blipFill>
            <a:ln w="171450" cap="rnd">
              <a:solidFill>
                <a:srgbClr val="FFFFFF"/>
              </a:solidFill>
              <a:prstDash val="solid"/>
              <a:round/>
            </a:ln>
          </p:spPr>
          <p:txBody>
            <a:bodyPr/>
            <a:lstStyle/>
            <a:p>
              <a:endParaRPr lang="en-IN"/>
            </a:p>
          </p:txBody>
        </p:sp>
      </p:grpSp>
      <p:grpSp>
        <p:nvGrpSpPr>
          <p:cNvPr id="11" name="Group 11"/>
          <p:cNvGrpSpPr/>
          <p:nvPr/>
        </p:nvGrpSpPr>
        <p:grpSpPr>
          <a:xfrm>
            <a:off x="-1543050" y="-1895009"/>
            <a:ext cx="3086100" cy="3086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sp>
        <p:nvSpPr>
          <p:cNvPr id="14" name="Freeform 14"/>
          <p:cNvSpPr/>
          <p:nvPr/>
        </p:nvSpPr>
        <p:spPr>
          <a:xfrm>
            <a:off x="-1543050" y="5330883"/>
            <a:ext cx="2471391" cy="627331"/>
          </a:xfrm>
          <a:custGeom>
            <a:avLst/>
            <a:gdLst/>
            <a:ahLst/>
            <a:cxnLst/>
            <a:rect l="l" t="t" r="r" b="b"/>
            <a:pathLst>
              <a:path w="2471391" h="627331">
                <a:moveTo>
                  <a:pt x="0" y="0"/>
                </a:moveTo>
                <a:lnTo>
                  <a:pt x="2471391" y="0"/>
                </a:lnTo>
                <a:lnTo>
                  <a:pt x="2471391" y="627330"/>
                </a:lnTo>
                <a:lnTo>
                  <a:pt x="0" y="6273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8" name="TextBox 18"/>
          <p:cNvSpPr txBox="1"/>
          <p:nvPr/>
        </p:nvSpPr>
        <p:spPr>
          <a:xfrm>
            <a:off x="1833505" y="2807621"/>
            <a:ext cx="6720243" cy="2616101"/>
          </a:xfrm>
          <a:prstGeom prst="rect">
            <a:avLst/>
          </a:prstGeom>
        </p:spPr>
        <p:txBody>
          <a:bodyPr lIns="0" tIns="0" rIns="0" bIns="0" rtlCol="0" anchor="t">
            <a:spAutoFit/>
          </a:bodyPr>
          <a:lstStyle/>
          <a:p>
            <a:pPr marL="0" lvl="0" indent="0" algn="l">
              <a:lnSpc>
                <a:spcPts val="10242"/>
              </a:lnSpc>
              <a:spcBef>
                <a:spcPct val="0"/>
              </a:spcBef>
            </a:pPr>
            <a:r>
              <a:rPr lang="en-US" sz="11132" b="1" dirty="0">
                <a:solidFill>
                  <a:srgbClr val="FFFFFF"/>
                </a:solidFill>
                <a:latin typeface="Bebas Neue Bold"/>
                <a:ea typeface="Bebas Neue Bold"/>
                <a:cs typeface="Bebas Neue Bold"/>
                <a:sym typeface="Bebas Neue Bold"/>
              </a:rPr>
              <a:t>Vision and mission</a:t>
            </a:r>
          </a:p>
        </p:txBody>
      </p:sp>
      <p:sp>
        <p:nvSpPr>
          <p:cNvPr id="24" name="TextBox 23">
            <a:extLst>
              <a:ext uri="{FF2B5EF4-FFF2-40B4-BE49-F238E27FC236}">
                <a16:creationId xmlns:a16="http://schemas.microsoft.com/office/drawing/2014/main" id="{914560B6-9A0A-0299-2864-B9F9601EEA4F}"/>
              </a:ext>
            </a:extLst>
          </p:cNvPr>
          <p:cNvSpPr txBox="1"/>
          <p:nvPr/>
        </p:nvSpPr>
        <p:spPr>
          <a:xfrm>
            <a:off x="1438542" y="6210300"/>
            <a:ext cx="6720243" cy="2185214"/>
          </a:xfrm>
          <a:prstGeom prst="rect">
            <a:avLst/>
          </a:prstGeom>
          <a:noFill/>
        </p:spPr>
        <p:txBody>
          <a:bodyPr wrap="square" rtlCol="0">
            <a:spAutoFit/>
          </a:bodyPr>
          <a:lstStyle/>
          <a:p>
            <a:pPr marL="285750" indent="-285750">
              <a:buFont typeface="Arial" panose="020B0604020202020204" pitchFamily="34" charset="0"/>
              <a:buChar char="•"/>
            </a:pPr>
            <a:r>
              <a:rPr lang="en-US" sz="2800" dirty="0">
                <a:solidFill>
                  <a:schemeClr val="bg1"/>
                </a:solidFill>
              </a:rPr>
              <a:t>Identify the best-selling pizzas</a:t>
            </a:r>
          </a:p>
          <a:p>
            <a:pPr marL="285750" indent="-285750">
              <a:buFont typeface="Arial" panose="020B0604020202020204" pitchFamily="34" charset="0"/>
              <a:buChar char="•"/>
            </a:pPr>
            <a:r>
              <a:rPr lang="en-US" sz="2800" dirty="0">
                <a:solidFill>
                  <a:schemeClr val="bg1"/>
                </a:solidFill>
              </a:rPr>
              <a:t>Understand sales pattern</a:t>
            </a:r>
          </a:p>
          <a:p>
            <a:pPr marL="285750" indent="-285750">
              <a:buFont typeface="Arial" panose="020B0604020202020204" pitchFamily="34" charset="0"/>
              <a:buChar char="•"/>
            </a:pPr>
            <a:r>
              <a:rPr lang="en-US" sz="2800" dirty="0">
                <a:solidFill>
                  <a:schemeClr val="bg1"/>
                </a:solidFill>
              </a:rPr>
              <a:t>Analyze revenue distribution</a:t>
            </a:r>
          </a:p>
          <a:p>
            <a:pPr marL="285750" indent="-285750">
              <a:buFont typeface="Arial" panose="020B0604020202020204" pitchFamily="34" charset="0"/>
              <a:buChar char="•"/>
            </a:pPr>
            <a:r>
              <a:rPr lang="en-US" sz="2800" dirty="0">
                <a:solidFill>
                  <a:schemeClr val="bg1"/>
                </a:solidFill>
              </a:rPr>
              <a:t>Insights based on data  using SQL</a:t>
            </a:r>
          </a:p>
          <a:p>
            <a:pPr marL="285750" indent="-285750">
              <a:buFont typeface="Arial" panose="020B0604020202020204" pitchFamily="34" charset="0"/>
              <a:buChar char="•"/>
            </a:pPr>
            <a:endParaRPr lang="en-IN" sz="24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grpSp>
        <p:nvGrpSpPr>
          <p:cNvPr id="3" name="Group 3"/>
          <p:cNvGrpSpPr/>
          <p:nvPr/>
        </p:nvGrpSpPr>
        <p:grpSpPr>
          <a:xfrm>
            <a:off x="17259300" y="-1588573"/>
            <a:ext cx="1788844" cy="12826898"/>
            <a:chOff x="0" y="0"/>
            <a:chExt cx="471136" cy="3378278"/>
          </a:xfrm>
        </p:grpSpPr>
        <p:sp>
          <p:nvSpPr>
            <p:cNvPr id="4" name="Freeform 4"/>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5" name="TextBox 5"/>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sp>
        <p:nvSpPr>
          <p:cNvPr id="6" name="Freeform 6"/>
          <p:cNvSpPr/>
          <p:nvPr/>
        </p:nvSpPr>
        <p:spPr>
          <a:xfrm>
            <a:off x="15207451" y="877426"/>
            <a:ext cx="2471391" cy="627331"/>
          </a:xfrm>
          <a:custGeom>
            <a:avLst/>
            <a:gdLst/>
            <a:ahLst/>
            <a:cxnLst/>
            <a:rect l="l" t="t" r="r" b="b"/>
            <a:pathLst>
              <a:path w="2471391" h="627331">
                <a:moveTo>
                  <a:pt x="0" y="0"/>
                </a:moveTo>
                <a:lnTo>
                  <a:pt x="2471391" y="0"/>
                </a:lnTo>
                <a:lnTo>
                  <a:pt x="2471391" y="627330"/>
                </a:lnTo>
                <a:lnTo>
                  <a:pt x="0" y="6273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7" name="Group 7"/>
          <p:cNvGrpSpPr/>
          <p:nvPr/>
        </p:nvGrpSpPr>
        <p:grpSpPr>
          <a:xfrm>
            <a:off x="-1543050" y="-1895009"/>
            <a:ext cx="3086100" cy="308610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sp>
        <p:nvSpPr>
          <p:cNvPr id="10" name="Freeform 10"/>
          <p:cNvSpPr/>
          <p:nvPr/>
        </p:nvSpPr>
        <p:spPr>
          <a:xfrm>
            <a:off x="-1543050" y="8630969"/>
            <a:ext cx="2471391" cy="627331"/>
          </a:xfrm>
          <a:custGeom>
            <a:avLst/>
            <a:gdLst/>
            <a:ahLst/>
            <a:cxnLst/>
            <a:rect l="l" t="t" r="r" b="b"/>
            <a:pathLst>
              <a:path w="2471391" h="627331">
                <a:moveTo>
                  <a:pt x="0" y="0"/>
                </a:moveTo>
                <a:lnTo>
                  <a:pt x="2471391" y="0"/>
                </a:lnTo>
                <a:lnTo>
                  <a:pt x="2471391" y="627331"/>
                </a:lnTo>
                <a:lnTo>
                  <a:pt x="0" y="62733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10967150" y="42831"/>
            <a:ext cx="5764399" cy="5601968"/>
          </a:xfrm>
          <a:custGeom>
            <a:avLst/>
            <a:gdLst/>
            <a:ahLst/>
            <a:cxnLst/>
            <a:rect l="l" t="t" r="r" b="b"/>
            <a:pathLst>
              <a:path w="7561026" h="7277488">
                <a:moveTo>
                  <a:pt x="0" y="0"/>
                </a:moveTo>
                <a:lnTo>
                  <a:pt x="7561026" y="0"/>
                </a:lnTo>
                <a:lnTo>
                  <a:pt x="7561026" y="7277488"/>
                </a:lnTo>
                <a:lnTo>
                  <a:pt x="0" y="7277488"/>
                </a:lnTo>
                <a:lnTo>
                  <a:pt x="0" y="0"/>
                </a:lnTo>
                <a:close/>
              </a:path>
            </a:pathLst>
          </a:custGeom>
          <a:blipFill>
            <a:blip r:embed="rId4"/>
            <a:stretch>
              <a:fillRect/>
            </a:stretch>
          </a:blipFill>
        </p:spPr>
        <p:txBody>
          <a:bodyPr/>
          <a:lstStyle/>
          <a:p>
            <a:endParaRPr lang="en-IN" dirty="0"/>
          </a:p>
        </p:txBody>
      </p:sp>
      <p:grpSp>
        <p:nvGrpSpPr>
          <p:cNvPr id="16" name="Group 16"/>
          <p:cNvGrpSpPr/>
          <p:nvPr/>
        </p:nvGrpSpPr>
        <p:grpSpPr>
          <a:xfrm>
            <a:off x="13234641" y="5964605"/>
            <a:ext cx="2980029" cy="298002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90500" cap="sq">
              <a:solidFill>
                <a:srgbClr val="EA6E19"/>
              </a:solidFill>
              <a:prstDash val="solid"/>
              <a:miter/>
            </a:ln>
          </p:spPr>
          <p:txBody>
            <a:bodyPr/>
            <a:lstStyle/>
            <a:p>
              <a:endParaRPr lang="en-IN"/>
            </a:p>
          </p:txBody>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sp>
        <p:nvSpPr>
          <p:cNvPr id="19" name="TextBox 19"/>
          <p:cNvSpPr txBox="1"/>
          <p:nvPr/>
        </p:nvSpPr>
        <p:spPr>
          <a:xfrm>
            <a:off x="13514019" y="6765470"/>
            <a:ext cx="2423780" cy="1865499"/>
          </a:xfrm>
          <a:prstGeom prst="rect">
            <a:avLst/>
          </a:prstGeom>
        </p:spPr>
        <p:txBody>
          <a:bodyPr lIns="0" tIns="0" rIns="0" bIns="0" rtlCol="0" anchor="t">
            <a:spAutoFit/>
          </a:bodyPr>
          <a:lstStyle/>
          <a:p>
            <a:pPr algn="ctr">
              <a:lnSpc>
                <a:spcPts val="6981"/>
              </a:lnSpc>
            </a:pPr>
            <a:r>
              <a:rPr lang="en-US" sz="7589" b="1" spc="-220" dirty="0">
                <a:solidFill>
                  <a:srgbClr val="341708"/>
                </a:solidFill>
                <a:latin typeface="Bebas Neue Bold"/>
                <a:ea typeface="Bebas Neue Bold"/>
                <a:cs typeface="Bebas Neue Bold"/>
                <a:sym typeface="Bebas Neue Bold"/>
              </a:rPr>
              <a:t>ORDER</a:t>
            </a:r>
          </a:p>
          <a:p>
            <a:pPr algn="ctr">
              <a:lnSpc>
                <a:spcPts val="6981"/>
              </a:lnSpc>
            </a:pPr>
            <a:r>
              <a:rPr lang="en-US" sz="7589" b="1" spc="-220" dirty="0">
                <a:solidFill>
                  <a:srgbClr val="341708"/>
                </a:solidFill>
                <a:latin typeface="Bebas Neue Bold"/>
                <a:ea typeface="Bebas Neue Bold"/>
                <a:cs typeface="Bebas Neue Bold"/>
                <a:sym typeface="Bebas Neue Bold"/>
              </a:rPr>
              <a:t>NOW</a:t>
            </a:r>
          </a:p>
        </p:txBody>
      </p:sp>
      <p:pic>
        <p:nvPicPr>
          <p:cNvPr id="21" name="Picture 20" descr="A screenshot of a computer code&#10;&#10;AI-generated content may be incorrect.">
            <a:extLst>
              <a:ext uri="{FF2B5EF4-FFF2-40B4-BE49-F238E27FC236}">
                <a16:creationId xmlns:a16="http://schemas.microsoft.com/office/drawing/2014/main" id="{9FD04A40-9A30-1ACF-BA5C-765B327E6FC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38208" y="622003"/>
            <a:ext cx="4114122" cy="3522977"/>
          </a:xfrm>
          <a:prstGeom prst="rect">
            <a:avLst/>
          </a:prstGeom>
        </p:spPr>
      </p:pic>
      <p:pic>
        <p:nvPicPr>
          <p:cNvPr id="23" name="Picture 22" descr="A screenshot of a computer&#10;&#10;AI-generated content may be incorrect.">
            <a:extLst>
              <a:ext uri="{FF2B5EF4-FFF2-40B4-BE49-F238E27FC236}">
                <a16:creationId xmlns:a16="http://schemas.microsoft.com/office/drawing/2014/main" id="{05A67FF9-515D-A925-8BE7-D57AC0D310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5208" y="2938746"/>
            <a:ext cx="4467792" cy="5311969"/>
          </a:xfrm>
          <a:prstGeom prst="rect">
            <a:avLst/>
          </a:prstGeom>
        </p:spPr>
      </p:pic>
      <p:sp>
        <p:nvSpPr>
          <p:cNvPr id="24" name="TextBox 23">
            <a:extLst>
              <a:ext uri="{FF2B5EF4-FFF2-40B4-BE49-F238E27FC236}">
                <a16:creationId xmlns:a16="http://schemas.microsoft.com/office/drawing/2014/main" id="{650E2C44-1D66-B174-DD42-A6BFBBCCBD87}"/>
              </a:ext>
            </a:extLst>
          </p:cNvPr>
          <p:cNvSpPr txBox="1"/>
          <p:nvPr/>
        </p:nvSpPr>
        <p:spPr>
          <a:xfrm>
            <a:off x="386495" y="1504757"/>
            <a:ext cx="4566506" cy="861774"/>
          </a:xfrm>
          <a:prstGeom prst="rect">
            <a:avLst/>
          </a:prstGeom>
          <a:noFill/>
        </p:spPr>
        <p:txBody>
          <a:bodyPr wrap="square" rtlCol="0">
            <a:spAutoFit/>
          </a:bodyPr>
          <a:lstStyle/>
          <a:p>
            <a:r>
              <a:rPr lang="en-US" sz="5000" dirty="0">
                <a:solidFill>
                  <a:srgbClr val="0070C0"/>
                </a:solidFill>
              </a:rPr>
              <a:t>Data overview</a:t>
            </a:r>
            <a:endParaRPr lang="en-IN" sz="5000" dirty="0">
              <a:solidFill>
                <a:srgbClr val="0070C0"/>
              </a:solidFill>
            </a:endParaRPr>
          </a:p>
        </p:txBody>
      </p:sp>
      <p:sp>
        <p:nvSpPr>
          <p:cNvPr id="25" name="TextBox 24">
            <a:extLst>
              <a:ext uri="{FF2B5EF4-FFF2-40B4-BE49-F238E27FC236}">
                <a16:creationId xmlns:a16="http://schemas.microsoft.com/office/drawing/2014/main" id="{777AA81F-B6AB-9776-548F-B036907D9B9F}"/>
              </a:ext>
            </a:extLst>
          </p:cNvPr>
          <p:cNvSpPr txBox="1"/>
          <p:nvPr/>
        </p:nvSpPr>
        <p:spPr>
          <a:xfrm>
            <a:off x="5232378" y="4876278"/>
            <a:ext cx="4114122" cy="3416320"/>
          </a:xfrm>
          <a:prstGeom prst="rect">
            <a:avLst/>
          </a:prstGeom>
          <a:noFill/>
        </p:spPr>
        <p:txBody>
          <a:bodyPr wrap="square" rtlCol="0">
            <a:spAutoFit/>
          </a:bodyPr>
          <a:lstStyle/>
          <a:p>
            <a:r>
              <a:rPr lang="en-US" sz="3600" dirty="0">
                <a:solidFill>
                  <a:schemeClr val="bg1"/>
                </a:solidFill>
              </a:rPr>
              <a:t>4 csv files</a:t>
            </a:r>
          </a:p>
          <a:p>
            <a:endParaRPr lang="en-US" sz="3600" dirty="0">
              <a:solidFill>
                <a:schemeClr val="bg1"/>
              </a:solidFill>
            </a:endParaRPr>
          </a:p>
          <a:p>
            <a:r>
              <a:rPr lang="en-US" sz="3600" dirty="0">
                <a:solidFill>
                  <a:schemeClr val="bg1"/>
                </a:solidFill>
              </a:rPr>
              <a:t>Orders.csv</a:t>
            </a:r>
          </a:p>
          <a:p>
            <a:r>
              <a:rPr lang="en-US" sz="3600" dirty="0">
                <a:solidFill>
                  <a:schemeClr val="bg1"/>
                </a:solidFill>
              </a:rPr>
              <a:t>Pizza.csv</a:t>
            </a:r>
          </a:p>
          <a:p>
            <a:r>
              <a:rPr lang="en-US" sz="3600" dirty="0">
                <a:solidFill>
                  <a:schemeClr val="bg1"/>
                </a:solidFill>
              </a:rPr>
              <a:t>Pizza_types.csv</a:t>
            </a:r>
          </a:p>
          <a:p>
            <a:r>
              <a:rPr lang="en-US" sz="3600" dirty="0">
                <a:solidFill>
                  <a:schemeClr val="bg1"/>
                </a:solidFill>
              </a:rPr>
              <a:t>order_details.csv</a:t>
            </a:r>
            <a:endParaRPr lang="en-IN" sz="36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771" y="5761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txBody>
          <a:bodyPr/>
          <a:lstStyle/>
          <a:p>
            <a:endParaRPr lang="en-IN"/>
          </a:p>
        </p:txBody>
      </p:sp>
      <p:grpSp>
        <p:nvGrpSpPr>
          <p:cNvPr id="3" name="Group 3"/>
          <p:cNvGrpSpPr/>
          <p:nvPr/>
        </p:nvGrpSpPr>
        <p:grpSpPr>
          <a:xfrm>
            <a:off x="17259300" y="-1588573"/>
            <a:ext cx="1788844" cy="12826898"/>
            <a:chOff x="0" y="0"/>
            <a:chExt cx="471136" cy="3378278"/>
          </a:xfrm>
        </p:grpSpPr>
        <p:sp>
          <p:nvSpPr>
            <p:cNvPr id="4" name="Freeform 4"/>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5" name="TextBox 5"/>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sp>
        <p:nvSpPr>
          <p:cNvPr id="6" name="Freeform 6"/>
          <p:cNvSpPr/>
          <p:nvPr/>
        </p:nvSpPr>
        <p:spPr>
          <a:xfrm>
            <a:off x="15207451" y="877426"/>
            <a:ext cx="2471391" cy="627331"/>
          </a:xfrm>
          <a:custGeom>
            <a:avLst/>
            <a:gdLst/>
            <a:ahLst/>
            <a:cxnLst/>
            <a:rect l="l" t="t" r="r" b="b"/>
            <a:pathLst>
              <a:path w="2471391" h="627331">
                <a:moveTo>
                  <a:pt x="0" y="0"/>
                </a:moveTo>
                <a:lnTo>
                  <a:pt x="2471391" y="0"/>
                </a:lnTo>
                <a:lnTo>
                  <a:pt x="2471391" y="627330"/>
                </a:lnTo>
                <a:lnTo>
                  <a:pt x="0" y="6273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7" name="Group 7"/>
          <p:cNvGrpSpPr/>
          <p:nvPr/>
        </p:nvGrpSpPr>
        <p:grpSpPr>
          <a:xfrm>
            <a:off x="-1543050" y="-1895009"/>
            <a:ext cx="3086100" cy="308610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sp>
        <p:nvSpPr>
          <p:cNvPr id="27" name="TextBox 27"/>
          <p:cNvSpPr txBox="1"/>
          <p:nvPr/>
        </p:nvSpPr>
        <p:spPr>
          <a:xfrm>
            <a:off x="4425709" y="7144544"/>
            <a:ext cx="1375902" cy="819961"/>
          </a:xfrm>
          <a:prstGeom prst="rect">
            <a:avLst/>
          </a:prstGeom>
        </p:spPr>
        <p:txBody>
          <a:bodyPr lIns="0" tIns="0" rIns="0" bIns="0" rtlCol="0" anchor="t">
            <a:spAutoFit/>
          </a:bodyPr>
          <a:lstStyle/>
          <a:p>
            <a:pPr marL="0" lvl="0" indent="0" algn="ctr">
              <a:lnSpc>
                <a:spcPts val="5939"/>
              </a:lnSpc>
              <a:spcBef>
                <a:spcPct val="0"/>
              </a:spcBef>
            </a:pPr>
            <a:r>
              <a:rPr lang="en-US" sz="6455" b="1" dirty="0">
                <a:solidFill>
                  <a:srgbClr val="341708"/>
                </a:solidFill>
                <a:latin typeface="Bebas Neue Bold"/>
                <a:ea typeface="Bebas Neue Bold"/>
                <a:cs typeface="Bebas Neue Bold"/>
                <a:sym typeface="Bebas Neue Bold"/>
              </a:rPr>
              <a:t>$20</a:t>
            </a:r>
          </a:p>
        </p:txBody>
      </p:sp>
      <p:sp>
        <p:nvSpPr>
          <p:cNvPr id="29" name="TextBox 29"/>
          <p:cNvSpPr txBox="1"/>
          <p:nvPr/>
        </p:nvSpPr>
        <p:spPr>
          <a:xfrm>
            <a:off x="10032119" y="7144544"/>
            <a:ext cx="1375902" cy="819961"/>
          </a:xfrm>
          <a:prstGeom prst="rect">
            <a:avLst/>
          </a:prstGeom>
        </p:spPr>
        <p:txBody>
          <a:bodyPr lIns="0" tIns="0" rIns="0" bIns="0" rtlCol="0" anchor="t">
            <a:spAutoFit/>
          </a:bodyPr>
          <a:lstStyle/>
          <a:p>
            <a:pPr marL="0" lvl="0" indent="0" algn="ctr">
              <a:lnSpc>
                <a:spcPts val="5939"/>
              </a:lnSpc>
              <a:spcBef>
                <a:spcPct val="0"/>
              </a:spcBef>
            </a:pPr>
            <a:r>
              <a:rPr lang="en-US" sz="6455" b="1">
                <a:solidFill>
                  <a:srgbClr val="341708"/>
                </a:solidFill>
                <a:latin typeface="Bebas Neue Bold"/>
                <a:ea typeface="Bebas Neue Bold"/>
                <a:cs typeface="Bebas Neue Bold"/>
                <a:sym typeface="Bebas Neue Bold"/>
              </a:rPr>
              <a:t>$30</a:t>
            </a:r>
          </a:p>
        </p:txBody>
      </p:sp>
      <p:sp>
        <p:nvSpPr>
          <p:cNvPr id="31" name="TextBox 31"/>
          <p:cNvSpPr txBox="1"/>
          <p:nvPr/>
        </p:nvSpPr>
        <p:spPr>
          <a:xfrm>
            <a:off x="15429160" y="7144544"/>
            <a:ext cx="1375902" cy="819961"/>
          </a:xfrm>
          <a:prstGeom prst="rect">
            <a:avLst/>
          </a:prstGeom>
        </p:spPr>
        <p:txBody>
          <a:bodyPr lIns="0" tIns="0" rIns="0" bIns="0" rtlCol="0" anchor="t">
            <a:spAutoFit/>
          </a:bodyPr>
          <a:lstStyle/>
          <a:p>
            <a:pPr marL="0" lvl="0" indent="0" algn="ctr">
              <a:lnSpc>
                <a:spcPts val="5939"/>
              </a:lnSpc>
              <a:spcBef>
                <a:spcPct val="0"/>
              </a:spcBef>
            </a:pPr>
            <a:r>
              <a:rPr lang="en-US" sz="6455" b="1" dirty="0">
                <a:solidFill>
                  <a:srgbClr val="341708"/>
                </a:solidFill>
                <a:latin typeface="Bebas Neue Bold"/>
                <a:ea typeface="Bebas Neue Bold"/>
                <a:cs typeface="Bebas Neue Bold"/>
                <a:sym typeface="Bebas Neue Bold"/>
              </a:rPr>
              <a:t>$25</a:t>
            </a:r>
          </a:p>
        </p:txBody>
      </p:sp>
      <p:pic>
        <p:nvPicPr>
          <p:cNvPr id="33" name="Picture 32" descr="A white text box with blue and black text&#10;&#10;AI-generated content may be incorrect.">
            <a:extLst>
              <a:ext uri="{FF2B5EF4-FFF2-40B4-BE49-F238E27FC236}">
                <a16:creationId xmlns:a16="http://schemas.microsoft.com/office/drawing/2014/main" id="{37643AB1-63D5-8FB4-B088-C118DF3AED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828" y="324919"/>
            <a:ext cx="8896634" cy="1694382"/>
          </a:xfrm>
          <a:prstGeom prst="rect">
            <a:avLst/>
          </a:prstGeom>
        </p:spPr>
      </p:pic>
      <p:pic>
        <p:nvPicPr>
          <p:cNvPr id="35" name="Picture 34" descr="A screenshot of a computer&#10;&#10;AI-generated content may be incorrect.">
            <a:extLst>
              <a:ext uri="{FF2B5EF4-FFF2-40B4-BE49-F238E27FC236}">
                <a16:creationId xmlns:a16="http://schemas.microsoft.com/office/drawing/2014/main" id="{79B0E86C-E6E2-8E8D-1DC6-FCF15BE57D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1828" y="1977993"/>
            <a:ext cx="2548016" cy="1176384"/>
          </a:xfrm>
          <a:prstGeom prst="rect">
            <a:avLst/>
          </a:prstGeom>
        </p:spPr>
      </p:pic>
      <p:pic>
        <p:nvPicPr>
          <p:cNvPr id="37" name="Picture 36" descr="A screenshot of a computer">
            <a:extLst>
              <a:ext uri="{FF2B5EF4-FFF2-40B4-BE49-F238E27FC236}">
                <a16:creationId xmlns:a16="http://schemas.microsoft.com/office/drawing/2014/main" id="{5527639E-EECE-B60E-95CD-260260FFEC4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32119" y="375886"/>
            <a:ext cx="7227181" cy="3243613"/>
          </a:xfrm>
          <a:prstGeom prst="rect">
            <a:avLst/>
          </a:prstGeom>
        </p:spPr>
      </p:pic>
      <p:pic>
        <p:nvPicPr>
          <p:cNvPr id="39" name="Picture 38" descr="A screenshot of a computer&#10;&#10;AI-generated content may be incorrect.">
            <a:extLst>
              <a:ext uri="{FF2B5EF4-FFF2-40B4-BE49-F238E27FC236}">
                <a16:creationId xmlns:a16="http://schemas.microsoft.com/office/drawing/2014/main" id="{316F05E3-E6F7-9B5F-C56A-3D614E5CD77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02004" y="3567156"/>
            <a:ext cx="2750300" cy="1633958"/>
          </a:xfrm>
          <a:prstGeom prst="rect">
            <a:avLst/>
          </a:prstGeom>
        </p:spPr>
      </p:pic>
      <p:pic>
        <p:nvPicPr>
          <p:cNvPr id="41" name="Picture 40" descr="A screen shot of a computer&#10;&#10;AI-generated content may be incorrect.">
            <a:extLst>
              <a:ext uri="{FF2B5EF4-FFF2-40B4-BE49-F238E27FC236}">
                <a16:creationId xmlns:a16="http://schemas.microsoft.com/office/drawing/2014/main" id="{CB37A8B6-26D0-C883-CE57-AF468974C2C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3749" y="3619499"/>
            <a:ext cx="9428828" cy="3771926"/>
          </a:xfrm>
          <a:prstGeom prst="rect">
            <a:avLst/>
          </a:prstGeom>
        </p:spPr>
      </p:pic>
      <p:pic>
        <p:nvPicPr>
          <p:cNvPr id="43" name="Picture 42" descr="A screenshot of a computer&#10;&#10;AI-generated content may be incorrect.">
            <a:extLst>
              <a:ext uri="{FF2B5EF4-FFF2-40B4-BE49-F238E27FC236}">
                <a16:creationId xmlns:a16="http://schemas.microsoft.com/office/drawing/2014/main" id="{AD6C6D8E-2197-DE6B-D3C1-4145B6A78B9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573510" y="6521569"/>
            <a:ext cx="2577455" cy="2065910"/>
          </a:xfrm>
          <a:prstGeom prst="rect">
            <a:avLst/>
          </a:prstGeom>
        </p:spPr>
      </p:pic>
      <p:grpSp>
        <p:nvGrpSpPr>
          <p:cNvPr id="48" name="Group 6">
            <a:extLst>
              <a:ext uri="{FF2B5EF4-FFF2-40B4-BE49-F238E27FC236}">
                <a16:creationId xmlns:a16="http://schemas.microsoft.com/office/drawing/2014/main" id="{FAFB6A3C-446A-DC32-24F7-988E59E2F210}"/>
              </a:ext>
            </a:extLst>
          </p:cNvPr>
          <p:cNvGrpSpPr/>
          <p:nvPr/>
        </p:nvGrpSpPr>
        <p:grpSpPr>
          <a:xfrm>
            <a:off x="9864995" y="3815807"/>
            <a:ext cx="4235517" cy="4514386"/>
            <a:chOff x="0" y="0"/>
            <a:chExt cx="700131" cy="1018732"/>
          </a:xfrm>
        </p:grpSpPr>
        <p:sp>
          <p:nvSpPr>
            <p:cNvPr id="49" name="Freeform 7">
              <a:extLst>
                <a:ext uri="{FF2B5EF4-FFF2-40B4-BE49-F238E27FC236}">
                  <a16:creationId xmlns:a16="http://schemas.microsoft.com/office/drawing/2014/main" id="{78BB7EE2-1A03-B9F3-5928-95BF32060844}"/>
                </a:ext>
              </a:extLst>
            </p:cNvPr>
            <p:cNvSpPr/>
            <p:nvPr/>
          </p:nvSpPr>
          <p:spPr>
            <a:xfrm>
              <a:off x="0" y="0"/>
              <a:ext cx="700131" cy="1018732"/>
            </a:xfrm>
            <a:custGeom>
              <a:avLst/>
              <a:gdLst/>
              <a:ahLst/>
              <a:cxnLst/>
              <a:rect l="l" t="t" r="r" b="b"/>
              <a:pathLst>
                <a:path w="700131" h="1018732">
                  <a:moveTo>
                    <a:pt x="39402" y="0"/>
                  </a:moveTo>
                  <a:lnTo>
                    <a:pt x="660729" y="0"/>
                  </a:lnTo>
                  <a:cubicBezTo>
                    <a:pt x="671179" y="0"/>
                    <a:pt x="681201" y="4151"/>
                    <a:pt x="688590" y="11541"/>
                  </a:cubicBezTo>
                  <a:cubicBezTo>
                    <a:pt x="695980" y="18930"/>
                    <a:pt x="700131" y="28952"/>
                    <a:pt x="700131" y="39402"/>
                  </a:cubicBezTo>
                  <a:lnTo>
                    <a:pt x="700131" y="979329"/>
                  </a:lnTo>
                  <a:cubicBezTo>
                    <a:pt x="700131" y="1001091"/>
                    <a:pt x="682490" y="1018732"/>
                    <a:pt x="660729" y="1018732"/>
                  </a:cubicBezTo>
                  <a:lnTo>
                    <a:pt x="39402" y="1018732"/>
                  </a:lnTo>
                  <a:cubicBezTo>
                    <a:pt x="28952" y="1018732"/>
                    <a:pt x="18930" y="1014580"/>
                    <a:pt x="11541" y="1007191"/>
                  </a:cubicBezTo>
                  <a:cubicBezTo>
                    <a:pt x="4151" y="999802"/>
                    <a:pt x="0" y="989779"/>
                    <a:pt x="0" y="979329"/>
                  </a:cubicBezTo>
                  <a:lnTo>
                    <a:pt x="0" y="39402"/>
                  </a:lnTo>
                  <a:cubicBezTo>
                    <a:pt x="0" y="17641"/>
                    <a:pt x="17641" y="0"/>
                    <a:pt x="39402" y="0"/>
                  </a:cubicBezTo>
                  <a:close/>
                </a:path>
              </a:pathLst>
            </a:custGeom>
            <a:blipFill>
              <a:blip r:embed="rId11"/>
              <a:stretch>
                <a:fillRect l="-8202" r="-8202"/>
              </a:stretch>
            </a:blipFill>
            <a:ln w="171450" cap="rnd">
              <a:solidFill>
                <a:srgbClr val="EA6E19"/>
              </a:solidFill>
              <a:prstDash val="solid"/>
              <a:round/>
            </a:ln>
          </p:spPr>
          <p:txBody>
            <a:bodyPr/>
            <a:lstStyle/>
            <a:p>
              <a:endParaRPr lang="en-IN"/>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txBody>
          <a:bodyPr/>
          <a:lstStyle/>
          <a:p>
            <a:endParaRPr lang="en-IN"/>
          </a:p>
        </p:txBody>
      </p:sp>
      <p:grpSp>
        <p:nvGrpSpPr>
          <p:cNvPr id="3" name="Group 3"/>
          <p:cNvGrpSpPr/>
          <p:nvPr/>
        </p:nvGrpSpPr>
        <p:grpSpPr>
          <a:xfrm>
            <a:off x="17259300" y="-1588573"/>
            <a:ext cx="1788844" cy="12826898"/>
            <a:chOff x="0" y="0"/>
            <a:chExt cx="471136" cy="3378278"/>
          </a:xfrm>
        </p:grpSpPr>
        <p:sp>
          <p:nvSpPr>
            <p:cNvPr id="4" name="Freeform 4"/>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5" name="TextBox 5"/>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grpSp>
        <p:nvGrpSpPr>
          <p:cNvPr id="6" name="Group 6"/>
          <p:cNvGrpSpPr/>
          <p:nvPr/>
        </p:nvGrpSpPr>
        <p:grpSpPr>
          <a:xfrm>
            <a:off x="-1543050" y="-1895009"/>
            <a:ext cx="3086100" cy="308610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8" name="TextBox 8"/>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sp>
        <p:nvSpPr>
          <p:cNvPr id="9" name="Freeform 9"/>
          <p:cNvSpPr/>
          <p:nvPr/>
        </p:nvSpPr>
        <p:spPr>
          <a:xfrm>
            <a:off x="-1543050" y="5330883"/>
            <a:ext cx="2471391" cy="627331"/>
          </a:xfrm>
          <a:custGeom>
            <a:avLst/>
            <a:gdLst/>
            <a:ahLst/>
            <a:cxnLst/>
            <a:rect l="l" t="t" r="r" b="b"/>
            <a:pathLst>
              <a:path w="2471391" h="627331">
                <a:moveTo>
                  <a:pt x="0" y="0"/>
                </a:moveTo>
                <a:lnTo>
                  <a:pt x="2471391" y="0"/>
                </a:lnTo>
                <a:lnTo>
                  <a:pt x="2471391" y="627330"/>
                </a:lnTo>
                <a:lnTo>
                  <a:pt x="0" y="6273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5" name="Freeform 15"/>
          <p:cNvSpPr/>
          <p:nvPr/>
        </p:nvSpPr>
        <p:spPr>
          <a:xfrm>
            <a:off x="15207451" y="3475627"/>
            <a:ext cx="2471391" cy="627331"/>
          </a:xfrm>
          <a:custGeom>
            <a:avLst/>
            <a:gdLst/>
            <a:ahLst/>
            <a:cxnLst/>
            <a:rect l="l" t="t" r="r" b="b"/>
            <a:pathLst>
              <a:path w="2471391" h="627331">
                <a:moveTo>
                  <a:pt x="0" y="0"/>
                </a:moveTo>
                <a:lnTo>
                  <a:pt x="2471391" y="0"/>
                </a:lnTo>
                <a:lnTo>
                  <a:pt x="2471391" y="627331"/>
                </a:lnTo>
                <a:lnTo>
                  <a:pt x="0" y="6273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25" name="Picture 24" descr="A white screen with black text&#10;&#10;AI-generated content may be incorrect.">
            <a:extLst>
              <a:ext uri="{FF2B5EF4-FFF2-40B4-BE49-F238E27FC236}">
                <a16:creationId xmlns:a16="http://schemas.microsoft.com/office/drawing/2014/main" id="{AB6C789F-8B23-24A2-351D-0A105C6F02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9610" y="134778"/>
            <a:ext cx="7551253" cy="3340849"/>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EDA66585-46A8-5416-896F-245B32B069E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9610" y="3305327"/>
            <a:ext cx="2919533" cy="1826465"/>
          </a:xfrm>
          <a:prstGeom prst="rect">
            <a:avLst/>
          </a:prstGeom>
        </p:spPr>
      </p:pic>
      <p:pic>
        <p:nvPicPr>
          <p:cNvPr id="29" name="Picture 28" descr="A screenshot of a computer&#10;&#10;AI-generated content may be incorrect.">
            <a:extLst>
              <a:ext uri="{FF2B5EF4-FFF2-40B4-BE49-F238E27FC236}">
                <a16:creationId xmlns:a16="http://schemas.microsoft.com/office/drawing/2014/main" id="{B21EE8B1-8E18-FB54-AB9D-8A6D999740A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318" y="5453463"/>
            <a:ext cx="9116796" cy="4720014"/>
          </a:xfrm>
          <a:prstGeom prst="rect">
            <a:avLst/>
          </a:prstGeom>
        </p:spPr>
      </p:pic>
      <p:pic>
        <p:nvPicPr>
          <p:cNvPr id="31" name="Picture 30" descr="A screenshot of a computer&#10;&#10;AI-generated content may be incorrect.">
            <a:extLst>
              <a:ext uri="{FF2B5EF4-FFF2-40B4-BE49-F238E27FC236}">
                <a16:creationId xmlns:a16="http://schemas.microsoft.com/office/drawing/2014/main" id="{C5DE7EF9-BB7F-5B87-3E80-BE7F27EADD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991600" y="7449223"/>
            <a:ext cx="5815197" cy="2724254"/>
          </a:xfrm>
          <a:prstGeom prst="rect">
            <a:avLst/>
          </a:prstGeom>
        </p:spPr>
      </p:pic>
      <p:pic>
        <p:nvPicPr>
          <p:cNvPr id="33" name="Picture 32" descr="A screenshot of a computer&#10;&#10;AI-generated content may be incorrect.">
            <a:extLst>
              <a:ext uri="{FF2B5EF4-FFF2-40B4-BE49-F238E27FC236}">
                <a16:creationId xmlns:a16="http://schemas.microsoft.com/office/drawing/2014/main" id="{118B612D-B251-E6DA-AC0D-6B6034C805A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53400" y="113523"/>
            <a:ext cx="6484209" cy="3362104"/>
          </a:xfrm>
          <a:prstGeom prst="rect">
            <a:avLst/>
          </a:prstGeom>
        </p:spPr>
      </p:pic>
      <p:pic>
        <p:nvPicPr>
          <p:cNvPr id="35" name="Picture 34" descr="A screenshot of a computer&#10;&#10;AI-generated content may be incorrect.">
            <a:extLst>
              <a:ext uri="{FF2B5EF4-FFF2-40B4-BE49-F238E27FC236}">
                <a16:creationId xmlns:a16="http://schemas.microsoft.com/office/drawing/2014/main" id="{A9F66791-47CC-C842-D5B7-6B0DE2C378C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3356666" y="722430"/>
            <a:ext cx="3701570" cy="2030768"/>
          </a:xfrm>
          <a:prstGeom prst="rect">
            <a:avLst/>
          </a:prstGeom>
        </p:spPr>
      </p:pic>
      <p:sp>
        <p:nvSpPr>
          <p:cNvPr id="36" name="Freeform 11">
            <a:extLst>
              <a:ext uri="{FF2B5EF4-FFF2-40B4-BE49-F238E27FC236}">
                <a16:creationId xmlns:a16="http://schemas.microsoft.com/office/drawing/2014/main" id="{8556E4DE-A694-9A33-8FD9-54DDD7C7B6BA}"/>
              </a:ext>
            </a:extLst>
          </p:cNvPr>
          <p:cNvSpPr/>
          <p:nvPr/>
        </p:nvSpPr>
        <p:spPr>
          <a:xfrm>
            <a:off x="9374495" y="3526568"/>
            <a:ext cx="5263114" cy="3715959"/>
          </a:xfrm>
          <a:custGeom>
            <a:avLst/>
            <a:gdLst/>
            <a:ahLst/>
            <a:cxnLst/>
            <a:rect l="l" t="t" r="r" b="b"/>
            <a:pathLst>
              <a:path w="8379115" h="7782103">
                <a:moveTo>
                  <a:pt x="0" y="0"/>
                </a:moveTo>
                <a:lnTo>
                  <a:pt x="8379115" y="0"/>
                </a:lnTo>
                <a:lnTo>
                  <a:pt x="8379115" y="7782103"/>
                </a:lnTo>
                <a:lnTo>
                  <a:pt x="0" y="7782103"/>
                </a:lnTo>
                <a:lnTo>
                  <a:pt x="0" y="0"/>
                </a:lnTo>
                <a:close/>
              </a:path>
            </a:pathLst>
          </a:custGeom>
          <a:blipFill>
            <a:blip r:embed="rId11"/>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52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txBody>
          <a:bodyPr/>
          <a:lstStyle/>
          <a:p>
            <a:endParaRPr lang="en-IN"/>
          </a:p>
        </p:txBody>
      </p:sp>
      <p:grpSp>
        <p:nvGrpSpPr>
          <p:cNvPr id="3" name="Group 3"/>
          <p:cNvGrpSpPr/>
          <p:nvPr/>
        </p:nvGrpSpPr>
        <p:grpSpPr>
          <a:xfrm>
            <a:off x="17259300" y="-1588573"/>
            <a:ext cx="1788844" cy="12826898"/>
            <a:chOff x="0" y="0"/>
            <a:chExt cx="471136" cy="3378278"/>
          </a:xfrm>
        </p:grpSpPr>
        <p:sp>
          <p:nvSpPr>
            <p:cNvPr id="4" name="Freeform 4"/>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5" name="TextBox 5"/>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sp>
        <p:nvSpPr>
          <p:cNvPr id="6" name="Freeform 6"/>
          <p:cNvSpPr/>
          <p:nvPr/>
        </p:nvSpPr>
        <p:spPr>
          <a:xfrm>
            <a:off x="15207451" y="877426"/>
            <a:ext cx="2471391" cy="627331"/>
          </a:xfrm>
          <a:custGeom>
            <a:avLst/>
            <a:gdLst/>
            <a:ahLst/>
            <a:cxnLst/>
            <a:rect l="l" t="t" r="r" b="b"/>
            <a:pathLst>
              <a:path w="2471391" h="627331">
                <a:moveTo>
                  <a:pt x="0" y="0"/>
                </a:moveTo>
                <a:lnTo>
                  <a:pt x="2471391" y="0"/>
                </a:lnTo>
                <a:lnTo>
                  <a:pt x="2471391" y="627330"/>
                </a:lnTo>
                <a:lnTo>
                  <a:pt x="0" y="6273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7" name="Group 7"/>
          <p:cNvGrpSpPr/>
          <p:nvPr/>
        </p:nvGrpSpPr>
        <p:grpSpPr>
          <a:xfrm>
            <a:off x="-1543050" y="-1895009"/>
            <a:ext cx="3086100" cy="308610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grpSp>
        <p:nvGrpSpPr>
          <p:cNvPr id="13" name="Group 13"/>
          <p:cNvGrpSpPr/>
          <p:nvPr/>
        </p:nvGrpSpPr>
        <p:grpSpPr>
          <a:xfrm>
            <a:off x="2277792" y="3044911"/>
            <a:ext cx="3828073" cy="3844529"/>
            <a:chOff x="0" y="0"/>
            <a:chExt cx="593069" cy="595618"/>
          </a:xfrm>
        </p:grpSpPr>
        <p:sp>
          <p:nvSpPr>
            <p:cNvPr id="14" name="Freeform 14"/>
            <p:cNvSpPr/>
            <p:nvPr/>
          </p:nvSpPr>
          <p:spPr>
            <a:xfrm>
              <a:off x="0" y="0"/>
              <a:ext cx="593069" cy="595618"/>
            </a:xfrm>
            <a:custGeom>
              <a:avLst/>
              <a:gdLst/>
              <a:ahLst/>
              <a:cxnLst/>
              <a:rect l="l" t="t" r="r" b="b"/>
              <a:pathLst>
                <a:path w="593069" h="595618">
                  <a:moveTo>
                    <a:pt x="46515" y="0"/>
                  </a:moveTo>
                  <a:lnTo>
                    <a:pt x="546553" y="0"/>
                  </a:lnTo>
                  <a:cubicBezTo>
                    <a:pt x="558890" y="0"/>
                    <a:pt x="570721" y="4901"/>
                    <a:pt x="579445" y="13624"/>
                  </a:cubicBezTo>
                  <a:cubicBezTo>
                    <a:pt x="588168" y="22347"/>
                    <a:pt x="593069" y="34179"/>
                    <a:pt x="593069" y="46515"/>
                  </a:cubicBezTo>
                  <a:lnTo>
                    <a:pt x="593069" y="549103"/>
                  </a:lnTo>
                  <a:cubicBezTo>
                    <a:pt x="593069" y="574793"/>
                    <a:pt x="572243" y="595618"/>
                    <a:pt x="546553" y="595618"/>
                  </a:cubicBezTo>
                  <a:lnTo>
                    <a:pt x="46515" y="595618"/>
                  </a:lnTo>
                  <a:cubicBezTo>
                    <a:pt x="34179" y="595618"/>
                    <a:pt x="22347" y="590717"/>
                    <a:pt x="13624" y="581994"/>
                  </a:cubicBezTo>
                  <a:cubicBezTo>
                    <a:pt x="4901" y="573271"/>
                    <a:pt x="0" y="561439"/>
                    <a:pt x="0" y="549103"/>
                  </a:cubicBezTo>
                  <a:lnTo>
                    <a:pt x="0" y="46515"/>
                  </a:lnTo>
                  <a:cubicBezTo>
                    <a:pt x="0" y="34179"/>
                    <a:pt x="4901" y="22347"/>
                    <a:pt x="13624" y="13624"/>
                  </a:cubicBezTo>
                  <a:cubicBezTo>
                    <a:pt x="22347" y="4901"/>
                    <a:pt x="34179" y="0"/>
                    <a:pt x="46515" y="0"/>
                  </a:cubicBezTo>
                  <a:close/>
                </a:path>
              </a:pathLst>
            </a:custGeom>
            <a:blipFill>
              <a:blip r:embed="rId5"/>
              <a:stretch>
                <a:fillRect t="-4931" b="-27830"/>
              </a:stretch>
            </a:blipFill>
            <a:ln w="171450" cap="rnd">
              <a:solidFill>
                <a:srgbClr val="EA6E19"/>
              </a:solidFill>
              <a:prstDash val="solid"/>
              <a:round/>
            </a:ln>
          </p:spPr>
          <p:txBody>
            <a:bodyPr/>
            <a:lstStyle/>
            <a:p>
              <a:endParaRPr lang="en-IN"/>
            </a:p>
          </p:txBody>
        </p:sp>
      </p:grpSp>
      <p:pic>
        <p:nvPicPr>
          <p:cNvPr id="22" name="Picture 21" descr="A screenshot of a computer&#10;&#10;AI-generated content may be incorrect.">
            <a:extLst>
              <a:ext uri="{FF2B5EF4-FFF2-40B4-BE49-F238E27FC236}">
                <a16:creationId xmlns:a16="http://schemas.microsoft.com/office/drawing/2014/main" id="{7ED60BB7-8197-98EC-96FC-B5BE2197D7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744" y="35143"/>
            <a:ext cx="6055853" cy="2877104"/>
          </a:xfrm>
          <a:prstGeom prst="rect">
            <a:avLst/>
          </a:prstGeom>
        </p:spPr>
      </p:pic>
      <p:pic>
        <p:nvPicPr>
          <p:cNvPr id="24" name="Picture 23" descr="A screenshot of a computer&#10;&#10;AI-generated content may be incorrect.">
            <a:extLst>
              <a:ext uri="{FF2B5EF4-FFF2-40B4-BE49-F238E27FC236}">
                <a16:creationId xmlns:a16="http://schemas.microsoft.com/office/drawing/2014/main" id="{8056D8B2-D913-F5A9-ADA5-66B2B81ED8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 y="3044912"/>
            <a:ext cx="2662364" cy="3844528"/>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0AF80F98-086D-CFE7-E855-05E581C88C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93140" y="127714"/>
            <a:ext cx="6591678" cy="2616573"/>
          </a:xfrm>
          <a:prstGeom prst="rect">
            <a:avLst/>
          </a:prstGeom>
        </p:spPr>
      </p:pic>
      <p:pic>
        <p:nvPicPr>
          <p:cNvPr id="28" name="Picture 27" descr="A screenshot of a computer&#10;&#10;AI-generated content may be incorrect.">
            <a:extLst>
              <a:ext uri="{FF2B5EF4-FFF2-40B4-BE49-F238E27FC236}">
                <a16:creationId xmlns:a16="http://schemas.microsoft.com/office/drawing/2014/main" id="{02035FA2-1883-C697-29DD-3857B1C396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493124" y="144044"/>
            <a:ext cx="3428653" cy="2616572"/>
          </a:xfrm>
          <a:prstGeom prst="rect">
            <a:avLst/>
          </a:prstGeom>
        </p:spPr>
      </p:pic>
      <p:pic>
        <p:nvPicPr>
          <p:cNvPr id="30" name="Picture 29" descr="A screenshot of a computer&#10;&#10;AI-generated content may be incorrect.">
            <a:extLst>
              <a:ext uri="{FF2B5EF4-FFF2-40B4-BE49-F238E27FC236}">
                <a16:creationId xmlns:a16="http://schemas.microsoft.com/office/drawing/2014/main" id="{BD39DADA-FF69-240A-D41E-7AD90658AE2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399457" y="3044911"/>
            <a:ext cx="10522319" cy="3317789"/>
          </a:xfrm>
          <a:prstGeom prst="rect">
            <a:avLst/>
          </a:prstGeom>
        </p:spPr>
      </p:pic>
      <p:pic>
        <p:nvPicPr>
          <p:cNvPr id="32" name="Picture 31" descr="A screenshot of a computer&#10;&#10;AI-generated content may be incorrect.">
            <a:extLst>
              <a:ext uri="{FF2B5EF4-FFF2-40B4-BE49-F238E27FC236}">
                <a16:creationId xmlns:a16="http://schemas.microsoft.com/office/drawing/2014/main" id="{D512CAC6-08E4-2324-0142-55E783F5967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4801019" y="4495852"/>
            <a:ext cx="2414349" cy="2614294"/>
          </a:xfrm>
          <a:prstGeom prst="rect">
            <a:avLst/>
          </a:prstGeom>
        </p:spPr>
      </p:pic>
      <p:pic>
        <p:nvPicPr>
          <p:cNvPr id="34" name="Picture 33" descr="A screenshot of a computer&#10;&#10;AI-generated content may be incorrect.">
            <a:extLst>
              <a:ext uri="{FF2B5EF4-FFF2-40B4-BE49-F238E27FC236}">
                <a16:creationId xmlns:a16="http://schemas.microsoft.com/office/drawing/2014/main" id="{FC870F39-6E5D-C75C-C284-A5EC5D6A453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15114" y="7089084"/>
            <a:ext cx="9525000" cy="3086531"/>
          </a:xfrm>
          <a:prstGeom prst="rect">
            <a:avLst/>
          </a:prstGeom>
        </p:spPr>
      </p:pic>
      <p:pic>
        <p:nvPicPr>
          <p:cNvPr id="36" name="Picture 35" descr="A screenshot of a computer&#10;&#10;AI-generated content may be incorrect.">
            <a:extLst>
              <a:ext uri="{FF2B5EF4-FFF2-40B4-BE49-F238E27FC236}">
                <a16:creationId xmlns:a16="http://schemas.microsoft.com/office/drawing/2014/main" id="{AE6C3653-F07A-F120-99EA-12513092494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341538" y="7011219"/>
            <a:ext cx="3527146" cy="31643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txBody>
          <a:bodyPr/>
          <a:lstStyle/>
          <a:p>
            <a:endParaRPr lang="en-IN"/>
          </a:p>
        </p:txBody>
      </p:sp>
      <p:grpSp>
        <p:nvGrpSpPr>
          <p:cNvPr id="3" name="Group 3"/>
          <p:cNvGrpSpPr/>
          <p:nvPr/>
        </p:nvGrpSpPr>
        <p:grpSpPr>
          <a:xfrm>
            <a:off x="17259300" y="-1588573"/>
            <a:ext cx="1788844" cy="12826898"/>
            <a:chOff x="0" y="0"/>
            <a:chExt cx="471136" cy="3378278"/>
          </a:xfrm>
        </p:grpSpPr>
        <p:sp>
          <p:nvSpPr>
            <p:cNvPr id="4" name="Freeform 4"/>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5" name="TextBox 5"/>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sp>
        <p:nvSpPr>
          <p:cNvPr id="6" name="Freeform 6"/>
          <p:cNvSpPr/>
          <p:nvPr/>
        </p:nvSpPr>
        <p:spPr>
          <a:xfrm>
            <a:off x="15207451" y="877426"/>
            <a:ext cx="2471391" cy="627331"/>
          </a:xfrm>
          <a:custGeom>
            <a:avLst/>
            <a:gdLst/>
            <a:ahLst/>
            <a:cxnLst/>
            <a:rect l="l" t="t" r="r" b="b"/>
            <a:pathLst>
              <a:path w="2471391" h="627331">
                <a:moveTo>
                  <a:pt x="0" y="0"/>
                </a:moveTo>
                <a:lnTo>
                  <a:pt x="2471391" y="0"/>
                </a:lnTo>
                <a:lnTo>
                  <a:pt x="2471391" y="627330"/>
                </a:lnTo>
                <a:lnTo>
                  <a:pt x="0" y="62733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grpSp>
        <p:nvGrpSpPr>
          <p:cNvPr id="7" name="Group 7"/>
          <p:cNvGrpSpPr/>
          <p:nvPr/>
        </p:nvGrpSpPr>
        <p:grpSpPr>
          <a:xfrm>
            <a:off x="-1543050" y="-1895009"/>
            <a:ext cx="3086100" cy="308610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sp>
        <p:nvSpPr>
          <p:cNvPr id="10" name="Freeform 10"/>
          <p:cNvSpPr/>
          <p:nvPr/>
        </p:nvSpPr>
        <p:spPr>
          <a:xfrm>
            <a:off x="-1543050" y="8630969"/>
            <a:ext cx="2471391" cy="627331"/>
          </a:xfrm>
          <a:custGeom>
            <a:avLst/>
            <a:gdLst/>
            <a:ahLst/>
            <a:cxnLst/>
            <a:rect l="l" t="t" r="r" b="b"/>
            <a:pathLst>
              <a:path w="2471391" h="627331">
                <a:moveTo>
                  <a:pt x="0" y="0"/>
                </a:moveTo>
                <a:lnTo>
                  <a:pt x="2471391" y="0"/>
                </a:lnTo>
                <a:lnTo>
                  <a:pt x="2471391" y="627331"/>
                </a:lnTo>
                <a:lnTo>
                  <a:pt x="0" y="6273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Freeform 11"/>
          <p:cNvSpPr/>
          <p:nvPr/>
        </p:nvSpPr>
        <p:spPr>
          <a:xfrm>
            <a:off x="8597809" y="6057900"/>
            <a:ext cx="7478894" cy="4210590"/>
          </a:xfrm>
          <a:custGeom>
            <a:avLst/>
            <a:gdLst/>
            <a:ahLst/>
            <a:cxnLst/>
            <a:rect l="l" t="t" r="r" b="b"/>
            <a:pathLst>
              <a:path w="8379115" h="7782103">
                <a:moveTo>
                  <a:pt x="0" y="0"/>
                </a:moveTo>
                <a:lnTo>
                  <a:pt x="8379115" y="0"/>
                </a:lnTo>
                <a:lnTo>
                  <a:pt x="8379115" y="7782103"/>
                </a:lnTo>
                <a:lnTo>
                  <a:pt x="0" y="7782103"/>
                </a:lnTo>
                <a:lnTo>
                  <a:pt x="0" y="0"/>
                </a:lnTo>
                <a:close/>
              </a:path>
            </a:pathLst>
          </a:custGeom>
          <a:blipFill>
            <a:blip r:embed="rId5"/>
            <a:stretch>
              <a:fillRect/>
            </a:stretch>
          </a:blipFill>
        </p:spPr>
        <p:txBody>
          <a:bodyPr/>
          <a:lstStyle/>
          <a:p>
            <a:endParaRPr lang="en-IN"/>
          </a:p>
        </p:txBody>
      </p:sp>
      <p:pic>
        <p:nvPicPr>
          <p:cNvPr id="17" name="Picture 16" descr="A screenshot of a computer&#10;&#10;AI-generated content may be incorrect.">
            <a:extLst>
              <a:ext uri="{FF2B5EF4-FFF2-40B4-BE49-F238E27FC236}">
                <a16:creationId xmlns:a16="http://schemas.microsoft.com/office/drawing/2014/main" id="{C492B112-042F-DAA8-361F-82DAB41C457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304" y="461234"/>
            <a:ext cx="9571096" cy="4377466"/>
          </a:xfrm>
          <a:prstGeom prst="rect">
            <a:avLst/>
          </a:prstGeom>
        </p:spPr>
      </p:pic>
      <p:pic>
        <p:nvPicPr>
          <p:cNvPr id="19" name="Picture 18" descr="A screenshot of a computer&#10;&#10;AI-generated content may be incorrect.">
            <a:extLst>
              <a:ext uri="{FF2B5EF4-FFF2-40B4-BE49-F238E27FC236}">
                <a16:creationId xmlns:a16="http://schemas.microsoft.com/office/drawing/2014/main" id="{4C4A658C-55DA-B0CD-3443-4861F243357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54886" y="522133"/>
            <a:ext cx="2471391" cy="1965247"/>
          </a:xfrm>
          <a:prstGeom prst="rect">
            <a:avLst/>
          </a:prstGeom>
        </p:spPr>
      </p:pic>
      <p:pic>
        <p:nvPicPr>
          <p:cNvPr id="21" name="Picture 20" descr="A screenshot of a computer&#10;&#10;AI-generated content may be incorrect.">
            <a:extLst>
              <a:ext uri="{FF2B5EF4-FFF2-40B4-BE49-F238E27FC236}">
                <a16:creationId xmlns:a16="http://schemas.microsoft.com/office/drawing/2014/main" id="{CB77FCB4-FB71-BB5F-C991-33FEAD8F50C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22683" y="2904040"/>
            <a:ext cx="6517517" cy="3153860"/>
          </a:xfrm>
          <a:prstGeom prst="rect">
            <a:avLst/>
          </a:prstGeom>
        </p:spPr>
      </p:pic>
      <p:pic>
        <p:nvPicPr>
          <p:cNvPr id="23" name="Picture 22" descr="A screenshot of a computer&#10;&#10;AI-generated content may be incorrect.">
            <a:extLst>
              <a:ext uri="{FF2B5EF4-FFF2-40B4-BE49-F238E27FC236}">
                <a16:creationId xmlns:a16="http://schemas.microsoft.com/office/drawing/2014/main" id="{8E498888-B79F-57A6-62B9-0436D0B235B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880005" y="108094"/>
            <a:ext cx="4169745" cy="2813868"/>
          </a:xfrm>
          <a:prstGeom prst="rect">
            <a:avLst/>
          </a:prstGeom>
        </p:spPr>
      </p:pic>
      <p:pic>
        <p:nvPicPr>
          <p:cNvPr id="25" name="Picture 24" descr="A screenshot of a computer code&#10;&#10;AI-generated content may be incorrect.">
            <a:extLst>
              <a:ext uri="{FF2B5EF4-FFF2-40B4-BE49-F238E27FC236}">
                <a16:creationId xmlns:a16="http://schemas.microsoft.com/office/drawing/2014/main" id="{9B9FFE92-9A14-A594-579A-8FCC1223D1F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6304" y="5377666"/>
            <a:ext cx="6115904" cy="4448100"/>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062FB350-5F0E-A629-F37D-2BAA5192B91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90971" y="6945883"/>
            <a:ext cx="2753109" cy="28798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555" b="-9555"/>
            </a:stretch>
          </a:blipFill>
        </p:spPr>
        <p:txBody>
          <a:bodyPr/>
          <a:lstStyle/>
          <a:p>
            <a:endParaRPr lang="en-IN"/>
          </a:p>
        </p:txBody>
      </p:sp>
      <p:sp>
        <p:nvSpPr>
          <p:cNvPr id="6" name="TextBox 6"/>
          <p:cNvSpPr txBox="1"/>
          <p:nvPr/>
        </p:nvSpPr>
        <p:spPr>
          <a:xfrm>
            <a:off x="2419031" y="2905491"/>
            <a:ext cx="13449938" cy="5197987"/>
          </a:xfrm>
          <a:prstGeom prst="rect">
            <a:avLst/>
          </a:prstGeom>
        </p:spPr>
        <p:txBody>
          <a:bodyPr lIns="0" tIns="0" rIns="0" bIns="0" rtlCol="0" anchor="t">
            <a:spAutoFit/>
          </a:bodyPr>
          <a:lstStyle/>
          <a:p>
            <a:pPr algn="ctr">
              <a:lnSpc>
                <a:spcPts val="19563"/>
              </a:lnSpc>
            </a:pPr>
            <a:r>
              <a:rPr lang="en-US" sz="21264" b="1" dirty="0">
                <a:solidFill>
                  <a:srgbClr val="FFFFFF"/>
                </a:solidFill>
                <a:latin typeface="Bebas Neue Bold"/>
                <a:ea typeface="Bebas Neue Bold"/>
                <a:cs typeface="Bebas Neue Bold"/>
                <a:sym typeface="Bebas Neue Bold"/>
              </a:rPr>
              <a:t>THANK YOU</a:t>
            </a:r>
          </a:p>
          <a:p>
            <a:pPr algn="ctr">
              <a:lnSpc>
                <a:spcPts val="19563"/>
              </a:lnSpc>
            </a:pPr>
            <a:r>
              <a:rPr lang="en-US" sz="21264" b="1" dirty="0">
                <a:solidFill>
                  <a:srgbClr val="FFFFFF"/>
                </a:solidFill>
                <a:latin typeface="Bebas Neue Bold"/>
                <a:ea typeface="Bebas Neue Bold"/>
                <a:cs typeface="Bebas Neue Bold"/>
                <a:sym typeface="Bebas Neue Bold"/>
              </a:rPr>
              <a:t>FOR ATTENTION</a:t>
            </a:r>
          </a:p>
        </p:txBody>
      </p:sp>
      <p:grpSp>
        <p:nvGrpSpPr>
          <p:cNvPr id="7" name="Group 7"/>
          <p:cNvGrpSpPr/>
          <p:nvPr/>
        </p:nvGrpSpPr>
        <p:grpSpPr>
          <a:xfrm>
            <a:off x="17259300" y="-1588573"/>
            <a:ext cx="1788844" cy="12826898"/>
            <a:chOff x="0" y="0"/>
            <a:chExt cx="471136" cy="3378278"/>
          </a:xfrm>
        </p:grpSpPr>
        <p:sp>
          <p:nvSpPr>
            <p:cNvPr id="8" name="Freeform 8"/>
            <p:cNvSpPr/>
            <p:nvPr/>
          </p:nvSpPr>
          <p:spPr>
            <a:xfrm>
              <a:off x="0" y="0"/>
              <a:ext cx="471136" cy="3378278"/>
            </a:xfrm>
            <a:custGeom>
              <a:avLst/>
              <a:gdLst/>
              <a:ahLst/>
              <a:cxnLst/>
              <a:rect l="l" t="t" r="r" b="b"/>
              <a:pathLst>
                <a:path w="471136" h="3378278">
                  <a:moveTo>
                    <a:pt x="0" y="0"/>
                  </a:moveTo>
                  <a:lnTo>
                    <a:pt x="471136" y="0"/>
                  </a:lnTo>
                  <a:lnTo>
                    <a:pt x="471136" y="3378278"/>
                  </a:lnTo>
                  <a:lnTo>
                    <a:pt x="0" y="3378278"/>
                  </a:lnTo>
                  <a:close/>
                </a:path>
              </a:pathLst>
            </a:custGeom>
            <a:solidFill>
              <a:srgbClr val="EA6E19"/>
            </a:solidFill>
          </p:spPr>
          <p:txBody>
            <a:bodyPr/>
            <a:lstStyle/>
            <a:p>
              <a:endParaRPr lang="en-IN"/>
            </a:p>
          </p:txBody>
        </p:sp>
        <p:sp>
          <p:nvSpPr>
            <p:cNvPr id="9" name="TextBox 9"/>
            <p:cNvSpPr txBox="1"/>
            <p:nvPr/>
          </p:nvSpPr>
          <p:spPr>
            <a:xfrm>
              <a:off x="0" y="-47625"/>
              <a:ext cx="471136" cy="3425903"/>
            </a:xfrm>
            <a:prstGeom prst="rect">
              <a:avLst/>
            </a:prstGeom>
          </p:spPr>
          <p:txBody>
            <a:bodyPr lIns="50800" tIns="50800" rIns="50800" bIns="50800" rtlCol="0" anchor="ctr"/>
            <a:lstStyle/>
            <a:p>
              <a:pPr algn="ctr">
                <a:lnSpc>
                  <a:spcPts val="3436"/>
                </a:lnSpc>
              </a:pPr>
              <a:endParaRPr/>
            </a:p>
          </p:txBody>
        </p:sp>
      </p:grpSp>
      <p:grpSp>
        <p:nvGrpSpPr>
          <p:cNvPr id="10" name="Group 10"/>
          <p:cNvGrpSpPr/>
          <p:nvPr/>
        </p:nvGrpSpPr>
        <p:grpSpPr>
          <a:xfrm>
            <a:off x="-1543050" y="-1895009"/>
            <a:ext cx="3086100" cy="3086100"/>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6E19"/>
            </a:solidFill>
          </p:spPr>
          <p:txBody>
            <a:bodyPr/>
            <a:lstStyle/>
            <a:p>
              <a:endParaRPr lang="en-IN"/>
            </a:p>
          </p:txBody>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436"/>
                </a:lnSpc>
              </a:pPr>
              <a:endParaRPr/>
            </a:p>
          </p:txBody>
        </p:sp>
      </p:grpSp>
      <p:sp>
        <p:nvSpPr>
          <p:cNvPr id="13" name="Freeform 13"/>
          <p:cNvSpPr/>
          <p:nvPr/>
        </p:nvSpPr>
        <p:spPr>
          <a:xfrm>
            <a:off x="15280761" y="3035806"/>
            <a:ext cx="2471391" cy="627331"/>
          </a:xfrm>
          <a:custGeom>
            <a:avLst/>
            <a:gdLst/>
            <a:ahLst/>
            <a:cxnLst/>
            <a:rect l="l" t="t" r="r" b="b"/>
            <a:pathLst>
              <a:path w="2471391" h="627331">
                <a:moveTo>
                  <a:pt x="0" y="0"/>
                </a:moveTo>
                <a:lnTo>
                  <a:pt x="2471391" y="0"/>
                </a:lnTo>
                <a:lnTo>
                  <a:pt x="2471391" y="627331"/>
                </a:lnTo>
                <a:lnTo>
                  <a:pt x="0" y="6273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6" name="Freeform 16"/>
          <p:cNvSpPr/>
          <p:nvPr/>
        </p:nvSpPr>
        <p:spPr>
          <a:xfrm>
            <a:off x="-752650" y="9258300"/>
            <a:ext cx="2471391" cy="627331"/>
          </a:xfrm>
          <a:custGeom>
            <a:avLst/>
            <a:gdLst/>
            <a:ahLst/>
            <a:cxnLst/>
            <a:rect l="l" t="t" r="r" b="b"/>
            <a:pathLst>
              <a:path w="2471391" h="627331">
                <a:moveTo>
                  <a:pt x="0" y="0"/>
                </a:moveTo>
                <a:lnTo>
                  <a:pt x="2471391" y="0"/>
                </a:lnTo>
                <a:lnTo>
                  <a:pt x="2471391" y="627331"/>
                </a:lnTo>
                <a:lnTo>
                  <a:pt x="0" y="62733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TotalTime>
  <Words>147</Words>
  <Application>Microsoft Office PowerPoint</Application>
  <PresentationFormat>Custom</PresentationFormat>
  <Paragraphs>25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Bebas Neue Bold</vt:lpstr>
      <vt:lpstr>Arial</vt:lpstr>
      <vt:lpstr>Open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Orange Modern Bold Pizza Resto Presentation</dc:title>
  <cp:lastModifiedBy>40rj9</cp:lastModifiedBy>
  <cp:revision>17</cp:revision>
  <dcterms:created xsi:type="dcterms:W3CDTF">2006-08-16T00:00:00Z</dcterms:created>
  <dcterms:modified xsi:type="dcterms:W3CDTF">2025-04-26T15:39:01Z</dcterms:modified>
  <dc:identifier>DAGlu9WPsjs</dc:identifier>
</cp:coreProperties>
</file>